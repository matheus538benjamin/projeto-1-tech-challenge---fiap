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f12312c-01e9-02a3-5a23-49ac433b568b}">
          <p14:sldIdLst>
            <p14:sldId id="256"/>
            <p14:sldId id="257"/>
          </p14:sldIdLst>
        </p14:section>
        <p14:section name="Ato 1 · Crescimento" id="{cc6e3049-ff58-1b3f-3ef9-2ec14d0c7ae8}">
          <p14:sldIdLst>
            <p14:sldId id="258"/>
            <p14:sldId id="259"/>
          </p14:sldIdLst>
        </p14:section>
        <p14:section name="Ato 2 · Experiência" id="{70ffd99a-eec0-c58f-6cbb-948366cf4516}">
          <p14:sldIdLst>
            <p14:sldId id="260"/>
            <p14:sldId id="261"/>
            <p14:sldId id="262"/>
          </p14:sldIdLst>
        </p14:section>
        <p14:section name="Ato 3 · Recompra" id="{04a0fce2-564d-d0a1-4480-340eced2f952}">
          <p14:sldIdLst>
            <p14:sldId id="263"/>
          </p14:sldIdLst>
        </p14:section>
        <p14:section name="Ato 4 · O que fazer" id="{8f189fee-4f4f-e2c0-c672-14887868396c}">
          <p14:sldIdLst>
            <p14:sldId id="264"/>
            <p14:sldId id="265"/>
            <p14:sldId id="266"/>
            <p14:sldId id="267"/>
          </p14:sldIdLst>
        </p14:section>
        <p14:section name="Fechamento" id="{7ad28f05-6d6b-861b-e641-3893011f75c0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+mn-lt"/>
              </a:rPr>
              <a:t>Receita real por mês (R$ milhões, preços de ago/2018)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rgbClr val="6E6E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jan/17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  <c:pt idx="12">
                    <c:v>jan/18</c:v>
                  </c:pt>
                  <c:pt idx="13">
                    <c:v>fev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mai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0.144</c:v>
                </c:pt>
                <c:pt idx="1">
                  <c:v>0.298</c:v>
                </c:pt>
                <c:pt idx="2">
                  <c:v>0.446</c:v>
                </c:pt>
                <c:pt idx="3">
                  <c:v>0.425</c:v>
                </c:pt>
                <c:pt idx="4">
                  <c:v>0.608</c:v>
                </c:pt>
                <c:pt idx="5">
                  <c:v>0.523</c:v>
                </c:pt>
                <c:pt idx="6">
                  <c:v>0.604</c:v>
                </c:pt>
                <c:pt idx="7">
                  <c:v>0.69</c:v>
                </c:pt>
                <c:pt idx="8">
                  <c:v>0.746</c:v>
                </c:pt>
                <c:pt idx="9">
                  <c:v>0.792</c:v>
                </c:pt>
                <c:pt idx="10">
                  <c:v>1.211</c:v>
                </c:pt>
                <c:pt idx="11">
                  <c:v>0.886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rgbClr val="ED14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jan/17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  <c:pt idx="12">
                    <c:v>jan/18</c:v>
                  </c:pt>
                  <c:pt idx="13">
                    <c:v>fev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mai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1.13</c:v>
                </c:pt>
                <c:pt idx="13">
                  <c:v>1.001</c:v>
                </c:pt>
                <c:pt idx="14">
                  <c:v>1.177</c:v>
                </c:pt>
                <c:pt idx="15">
                  <c:v>1.178</c:v>
                </c:pt>
                <c:pt idx="16">
                  <c:v>1.163</c:v>
                </c:pt>
                <c:pt idx="17">
                  <c:v>1.023</c:v>
                </c:pt>
                <c:pt idx="18">
                  <c:v>1.039</c:v>
                </c:pt>
                <c:pt idx="19">
                  <c:v>0.997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4B4B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l"/>
        <c:majorGridlines>
          <c:spPr>
            <a:ln w="9525" cap="flat">
              <a:solidFill>
                <a:srgbClr val="3A3A3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4B4B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B4B4B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da população</c:v>
                </c:pt>
              </c:strCache>
            </c:strRef>
          </c:tx>
          <c:spPr>
            <a:solidFill>
              <a:srgbClr val="6E6E6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Sudeste</c:v>
                  </c:pt>
                  <c:pt idx="1">
                    <c:v>Sul</c:v>
                  </c:pt>
                  <c:pt idx="2">
                    <c:v>Centro-Oeste</c:v>
                  </c:pt>
                  <c:pt idx="3">
                    <c:v>Nordeste</c:v>
                  </c:pt>
                  <c:pt idx="4">
                    <c:v>Norte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42.1</c:v>
                </c:pt>
                <c:pt idx="1">
                  <c:v>14.3</c:v>
                </c:pt>
                <c:pt idx="2">
                  <c:v>7.7</c:v>
                </c:pt>
                <c:pt idx="3">
                  <c:v>27.2</c:v>
                </c:pt>
                <c:pt idx="4">
                  <c:v>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da receita</c:v>
                </c:pt>
              </c:strCache>
            </c:strRef>
          </c:tx>
          <c:spPr>
            <a:solidFill>
              <a:srgbClr val="ED145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Sudeste</c:v>
                  </c:pt>
                  <c:pt idx="1">
                    <c:v>Sul</c:v>
                  </c:pt>
                  <c:pt idx="2">
                    <c:v>Centro-Oeste</c:v>
                  </c:pt>
                  <c:pt idx="3">
                    <c:v>Nordeste</c:v>
                  </c:pt>
                  <c:pt idx="4">
                    <c:v>Norte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64.6</c:v>
                </c:pt>
                <c:pt idx="1">
                  <c:v>14.5</c:v>
                </c:pt>
                <c:pt idx="2">
                  <c:v>6.4</c:v>
                </c:pt>
                <c:pt idx="3">
                  <c:v>11.9</c:v>
                </c:pt>
                <c:pt idx="4">
                  <c:v>2.6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4B4B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1"/>
        <c:axPos val="l"/>
        <c:majorGridlines>
          <c:spPr>
            <a:ln w="9525" cap="flat">
              <a:solidFill>
                <a:srgbClr val="3A3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4B4B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B4B4B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+mn-lt"/>
              </a:rPr>
              <a:t>% de avaliações ruins (nota 1 ou 2), por dias de atraso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6E6E6E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prazo</c:v>
                  </c:pt>
                  <c:pt idx="1">
                    <c:v>1 a 3 dias</c:v>
                  </c:pt>
                  <c:pt idx="2">
                    <c:v>4 a 7 dias</c:v>
                  </c:pt>
                  <c:pt idx="3">
                    <c:v>8 dias ou mais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atrasado</c:v>
                </c:pt>
              </c:strCache>
            </c:strRef>
          </c:tx>
          <c:spPr>
            <a:solidFill>
              <a:srgbClr val="ED145B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prazo</c:v>
                  </c:pt>
                  <c:pt idx="1">
                    <c:v>1 a 3 dias</c:v>
                  </c:pt>
                  <c:pt idx="2">
                    <c:v>4 a 7 dias</c:v>
                  </c:pt>
                  <c:pt idx="3">
                    <c:v>8 dias ou mais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32.1</c:v>
                </c:pt>
                <c:pt idx="2">
                  <c:v>67.7</c:v>
                </c:pt>
                <c:pt idx="3">
                  <c:v>79.3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B4B4B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majorGridlines>
          <c:spPr>
            <a:ln w="9525" cap="flat">
              <a:solidFill>
                <a:srgbClr val="3A3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4B4B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+mn-lt"/>
              </a:rPr>
              <a:t>% de avaliações ruins, só pedidos entregues no prazo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item</c:v>
                </c:pt>
              </c:strCache>
            </c:strRef>
          </c:tx>
          <c:spPr>
            <a:solidFill>
              <a:srgbClr val="6E6E6E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item</c:v>
                  </c:pt>
                  <c:pt idx="1">
                    <c:v>2 itens</c:v>
                  </c:pt>
                  <c:pt idx="2">
                    <c:v>3 itens ou mais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7.5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vários</c:v>
                </c:pt>
              </c:strCache>
            </c:strRef>
          </c:tx>
          <c:spPr>
            <a:solidFill>
              <a:srgbClr val="ED145B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item</c:v>
                  </c:pt>
                  <c:pt idx="1">
                    <c:v>2 itens</c:v>
                  </c:pt>
                  <c:pt idx="2">
                    <c:v>3 itens ou mais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23.2</c:v>
                </c:pt>
                <c:pt idx="2">
                  <c:v>29.2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B4B4B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1"/>
        <c:axPos val="l"/>
        <c:majorGridlines>
          <c:spPr>
            <a:ln w="9525" cap="flat">
              <a:solidFill>
                <a:srgbClr val="3A3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4B4B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+mn-lt"/>
              </a:rPr>
              <a:t>Receita real por mês e projeção set–dez/2018 (R$ milhões)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6E6E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jan/17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  <c:pt idx="12">
                    <c:v>jan/18</c:v>
                  </c:pt>
                  <c:pt idx="13">
                    <c:v>fev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mai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set</c:v>
                  </c:pt>
                  <c:pt idx="21">
                    <c:v>out</c:v>
                  </c:pt>
                  <c:pt idx="22">
                    <c:v>nov</c:v>
                  </c:pt>
                  <c:pt idx="23">
                    <c:v>dez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0.144</c:v>
                </c:pt>
                <c:pt idx="1">
                  <c:v>0.298</c:v>
                </c:pt>
                <c:pt idx="2">
                  <c:v>0.446</c:v>
                </c:pt>
                <c:pt idx="3">
                  <c:v>0.425</c:v>
                </c:pt>
                <c:pt idx="4">
                  <c:v>0.608</c:v>
                </c:pt>
                <c:pt idx="5">
                  <c:v>0.523</c:v>
                </c:pt>
                <c:pt idx="6">
                  <c:v>0.604</c:v>
                </c:pt>
                <c:pt idx="7">
                  <c:v>0.69</c:v>
                </c:pt>
                <c:pt idx="8">
                  <c:v>0.746</c:v>
                </c:pt>
                <c:pt idx="9">
                  <c:v>0.792</c:v>
                </c:pt>
                <c:pt idx="10">
                  <c:v>1.211</c:v>
                </c:pt>
                <c:pt idx="11">
                  <c:v>0.886</c:v>
                </c:pt>
                <c:pt idx="12">
                  <c:v>1.13</c:v>
                </c:pt>
                <c:pt idx="13">
                  <c:v>1.001</c:v>
                </c:pt>
                <c:pt idx="14">
                  <c:v>1.177</c:v>
                </c:pt>
                <c:pt idx="15">
                  <c:v>1.178</c:v>
                </c:pt>
                <c:pt idx="16">
                  <c:v>1.163</c:v>
                </c:pt>
                <c:pt idx="17">
                  <c:v>1.023</c:v>
                </c:pt>
                <c:pt idx="18">
                  <c:v>1.039</c:v>
                </c:pt>
                <c:pt idx="19">
                  <c:v>0.997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projeção</c:v>
                </c:pt>
              </c:strCache>
            </c:strRef>
          </c:tx>
          <c:spPr>
            <a:solidFill>
              <a:srgbClr val="ED14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jan/17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  <c:pt idx="12">
                    <c:v>jan/18</c:v>
                  </c:pt>
                  <c:pt idx="13">
                    <c:v>fev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mai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set</c:v>
                  </c:pt>
                  <c:pt idx="21">
                    <c:v>out</c:v>
                  </c:pt>
                  <c:pt idx="22">
                    <c:v>nov</c:v>
                  </c:pt>
                  <c:pt idx="23">
                    <c:v>dez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1.02</c:v>
                </c:pt>
                <c:pt idx="21">
                  <c:v>1.02</c:v>
                </c:pt>
                <c:pt idx="22">
                  <c:v>1.605</c:v>
                </c:pt>
                <c:pt idx="23">
                  <c:v>1.175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4B4B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8"/>
          <c:min val="0"/>
        </c:scaling>
        <c:delete val="0"/>
        <c:axPos val="l"/>
        <c:majorGridlines>
          <c:spPr>
            <a:ln w="9525" cap="flat">
              <a:solidFill>
                <a:srgbClr val="3A3A3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4B4B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3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B4B4B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00200"/>
            <a:ext cx="76809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1480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66928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Projeto 1 · Tech Challenge · Fase 1 · POSTECH Data Analytics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4B4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4B4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900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PROJETO 1 · TECH CHALLENGE · FASE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300000"/>
            <a:ext cx="1070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fazer para as vendas da Olist crescerem cada vez mais?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000000"/>
            <a:ext cx="107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Relatório executivo para investidores e acionistas · 100 mil pedidos reais de e-commerce, 2016 a 2018</a:t>
            </a:r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6000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Matheus Benjamin Aquino Silva · POSTECH Data Analytics (FIAP)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731520" y="620000"/>
            <a:ext cx="640000" cy="60000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241908"/>
            <a:ext cx="450924" cy="208092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72444" y="5019365"/>
            <a:ext cx="450924" cy="430635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13368" y="4805492"/>
            <a:ext cx="450924" cy="644508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54292" y="4835839"/>
            <a:ext cx="450924" cy="614161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95216" y="4571388"/>
            <a:ext cx="450924" cy="878612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36140" y="4694220"/>
            <a:ext cx="450924" cy="75578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7064" y="4577168"/>
            <a:ext cx="450924" cy="872832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17988" y="4452891"/>
            <a:ext cx="450924" cy="997109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58912" y="4371966"/>
            <a:ext cx="450924" cy="1078034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99836" y="4305492"/>
            <a:ext cx="450924" cy="1144508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0760" y="3700000"/>
            <a:ext cx="450924" cy="17500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81684" y="4169654"/>
            <a:ext cx="450924" cy="1280346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2608" y="3817053"/>
            <a:ext cx="450924" cy="1632947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63532" y="4003469"/>
            <a:ext cx="450924" cy="1446531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04456" y="3749133"/>
            <a:ext cx="450924" cy="1700867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45380" y="3747688"/>
            <a:ext cx="450924" cy="1702312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86304" y="3769365"/>
            <a:ext cx="450924" cy="1680635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27228" y="3971677"/>
            <a:ext cx="450924" cy="1478323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468152" y="3948555"/>
            <a:ext cx="450924" cy="1501445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009076" y="4009249"/>
            <a:ext cx="450924" cy="1440751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490000"/>
            <a:ext cx="10728480" cy="3000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00" i="1">
                <a:solidFill>
                  <a:srgbClr val="9A9A9A"/>
                </a:solidFill>
              </a:rPr>
              <a:t>Vendas mensais corrigidas pela inflação, jan/2017 a ago/2018 · cinza 2017, rosa 2018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 ESTUDO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perguntas de investidor guiam a análise</a:t>
            </a:r>
            <a:endParaRPr lang="en-US" sz="2800" dirty="0"/>
          </a:p>
        </p:txBody>
      </p:sp>
      <p:sp>
        <p:nvSpPr>
          <p:cNvPr id="4" name="ato_card0"/>
          <p:cNvSpPr/>
          <p:nvPr/>
        </p:nvSpPr>
        <p:spPr>
          <a:xfrm>
            <a:off x="548640" y="1828800"/>
            <a:ext cx="2587752" cy="3246120"/>
          </a:xfrm>
          <a:prstGeom prst="roundRect">
            <a:avLst>
              <a:gd name="adj" fmla="val 42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5" name="ato_0_circ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6" name="ato_0_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274570"/>
            <a:ext cx="342900" cy="342900"/>
          </a:xfrm>
          <a:prstGeom prst="rect">
            <a:avLst/>
          </a:prstGeom>
        </p:spPr>
      </p:pic>
      <p:sp>
        <p:nvSpPr>
          <p:cNvPr id="7" name="ato_n0"/>
          <p:cNvSpPr txBox="1"/>
          <p:nvPr/>
        </p:nvSpPr>
        <p:spPr>
          <a:xfrm>
            <a:off x="164592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</a:t>
            </a:r>
            <a:endParaRPr lang="en-US" sz="1300" dirty="0"/>
          </a:p>
        </p:txBody>
      </p:sp>
      <p:sp>
        <p:nvSpPr>
          <p:cNvPr id="8" name="ato_q0"/>
          <p:cNvSpPr txBox="1"/>
          <p:nvPr/>
        </p:nvSpPr>
        <p:spPr>
          <a:xfrm>
            <a:off x="822960" y="30175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negócio cresce?</a:t>
            </a:r>
            <a:endParaRPr lang="en-US" sz="1800" dirty="0"/>
          </a:p>
        </p:txBody>
      </p:sp>
      <p:sp>
        <p:nvSpPr>
          <p:cNvPr id="9" name="ato_r0"/>
          <p:cNvSpPr txBox="1"/>
          <p:nvPr/>
        </p:nvSpPr>
        <p:spPr>
          <a:xfrm>
            <a:off x="822960" y="39319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Cresceu muito em 2017 e parou em 2018</a:t>
            </a:r>
            <a:endParaRPr lang="en-US" sz="1400" dirty="0"/>
          </a:p>
        </p:txBody>
      </p:sp>
      <p:sp>
        <p:nvSpPr>
          <p:cNvPr id="10" name="ato_card1"/>
          <p:cNvSpPr/>
          <p:nvPr/>
        </p:nvSpPr>
        <p:spPr>
          <a:xfrm>
            <a:off x="3364992" y="1828800"/>
            <a:ext cx="2587752" cy="3246120"/>
          </a:xfrm>
          <a:prstGeom prst="roundRect">
            <a:avLst>
              <a:gd name="adj" fmla="val 42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1" name="ato_1_circ"/>
          <p:cNvSpPr/>
          <p:nvPr/>
        </p:nvSpPr>
        <p:spPr>
          <a:xfrm>
            <a:off x="3639312" y="21031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2" name="ato_1_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762" y="2274570"/>
            <a:ext cx="342900" cy="342900"/>
          </a:xfrm>
          <a:prstGeom prst="rect">
            <a:avLst/>
          </a:prstGeom>
        </p:spPr>
      </p:pic>
      <p:sp>
        <p:nvSpPr>
          <p:cNvPr id="13" name="ato_n1"/>
          <p:cNvSpPr txBox="1"/>
          <p:nvPr/>
        </p:nvSpPr>
        <p:spPr>
          <a:xfrm>
            <a:off x="4462272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</a:t>
            </a:r>
            <a:endParaRPr lang="en-US" sz="1300" dirty="0"/>
          </a:p>
        </p:txBody>
      </p:sp>
      <p:sp>
        <p:nvSpPr>
          <p:cNvPr id="14" name="ato_q1"/>
          <p:cNvSpPr txBox="1"/>
          <p:nvPr/>
        </p:nvSpPr>
        <p:spPr>
          <a:xfrm>
            <a:off x="3639312" y="30175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experiência quebra?</a:t>
            </a:r>
            <a:endParaRPr lang="en-US" sz="1800" dirty="0"/>
          </a:p>
        </p:txBody>
      </p:sp>
      <p:sp>
        <p:nvSpPr>
          <p:cNvPr id="15" name="ato_r1"/>
          <p:cNvSpPr txBox="1"/>
          <p:nvPr/>
        </p:nvSpPr>
        <p:spPr>
          <a:xfrm>
            <a:off x="3639312" y="39319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atraso e no pedido com vários itens</a:t>
            </a:r>
            <a:endParaRPr lang="en-US" sz="1400" dirty="0"/>
          </a:p>
        </p:txBody>
      </p:sp>
      <p:sp>
        <p:nvSpPr>
          <p:cNvPr id="16" name="ato_card2"/>
          <p:cNvSpPr/>
          <p:nvPr/>
        </p:nvSpPr>
        <p:spPr>
          <a:xfrm>
            <a:off x="6181344" y="1828800"/>
            <a:ext cx="2587752" cy="3246120"/>
          </a:xfrm>
          <a:prstGeom prst="roundRect">
            <a:avLst>
              <a:gd name="adj" fmla="val 42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7" name="ato_2_circ"/>
          <p:cNvSpPr/>
          <p:nvPr/>
        </p:nvSpPr>
        <p:spPr>
          <a:xfrm>
            <a:off x="6455664" y="21031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8" name="ato_2_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114" y="2274570"/>
            <a:ext cx="342900" cy="342900"/>
          </a:xfrm>
          <a:prstGeom prst="rect">
            <a:avLst/>
          </a:prstGeom>
        </p:spPr>
      </p:pic>
      <p:sp>
        <p:nvSpPr>
          <p:cNvPr id="19" name="ato_n2"/>
          <p:cNvSpPr txBox="1"/>
          <p:nvPr/>
        </p:nvSpPr>
        <p:spPr>
          <a:xfrm>
            <a:off x="7278624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</a:t>
            </a:r>
            <a:endParaRPr lang="en-US" sz="1300" dirty="0"/>
          </a:p>
        </p:txBody>
      </p:sp>
      <p:sp>
        <p:nvSpPr>
          <p:cNvPr id="20" name="ato_q2"/>
          <p:cNvSpPr txBox="1"/>
          <p:nvPr/>
        </p:nvSpPr>
        <p:spPr>
          <a:xfrm>
            <a:off x="6455664" y="30175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volta?</a:t>
            </a:r>
            <a:endParaRPr lang="en-US" sz="1800" dirty="0"/>
          </a:p>
        </p:txBody>
      </p:sp>
      <p:sp>
        <p:nvSpPr>
          <p:cNvPr id="21" name="ato_r2"/>
          <p:cNvSpPr txBox="1"/>
          <p:nvPr/>
        </p:nvSpPr>
        <p:spPr>
          <a:xfrm>
            <a:off x="6455664" y="39319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nunca: 2 em cada 100 em seis meses</a:t>
            </a:r>
            <a:endParaRPr lang="en-US" sz="1400" dirty="0"/>
          </a:p>
        </p:txBody>
      </p:sp>
      <p:sp>
        <p:nvSpPr>
          <p:cNvPr id="22" name="ato_card3"/>
          <p:cNvSpPr/>
          <p:nvPr/>
        </p:nvSpPr>
        <p:spPr>
          <a:xfrm>
            <a:off x="8997696" y="1828800"/>
            <a:ext cx="2587752" cy="3246120"/>
          </a:xfrm>
          <a:prstGeom prst="roundRect">
            <a:avLst>
              <a:gd name="adj" fmla="val 42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3" name="ato_3_circ"/>
          <p:cNvSpPr/>
          <p:nvPr/>
        </p:nvSpPr>
        <p:spPr>
          <a:xfrm>
            <a:off x="9272016" y="21031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24" name="ato_3_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466" y="2274570"/>
            <a:ext cx="342900" cy="342900"/>
          </a:xfrm>
          <a:prstGeom prst="rect">
            <a:avLst/>
          </a:prstGeom>
        </p:spPr>
      </p:pic>
      <p:sp>
        <p:nvSpPr>
          <p:cNvPr id="25" name="ato_n3"/>
          <p:cNvSpPr txBox="1"/>
          <p:nvPr/>
        </p:nvSpPr>
        <p:spPr>
          <a:xfrm>
            <a:off x="10094976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</a:t>
            </a:r>
            <a:endParaRPr lang="en-US" sz="1300" dirty="0"/>
          </a:p>
        </p:txBody>
      </p:sp>
      <p:sp>
        <p:nvSpPr>
          <p:cNvPr id="26" name="ato_q3"/>
          <p:cNvSpPr txBox="1"/>
          <p:nvPr/>
        </p:nvSpPr>
        <p:spPr>
          <a:xfrm>
            <a:off x="9272016" y="30175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fazer, e quanto vale?</a:t>
            </a:r>
            <a:endParaRPr lang="en-US" sz="1800" dirty="0"/>
          </a:p>
        </p:txBody>
      </p:sp>
      <p:sp>
        <p:nvSpPr>
          <p:cNvPr id="27" name="ato_r3"/>
          <p:cNvSpPr txBox="1"/>
          <p:nvPr/>
        </p:nvSpPr>
        <p:spPr>
          <a:xfrm>
            <a:off x="9272016" y="39319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Logística, Norte e Nordeste e um piloto de retenção</a:t>
            </a:r>
            <a:endParaRPr lang="en-US" sz="1400" dirty="0"/>
          </a:p>
        </p:txBody>
      </p:sp>
      <p:sp>
        <p:nvSpPr>
          <p:cNvPr id="28" name="base_dados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99.441 pedidos, 9 tabelas da Olist (Kaggle), análise de jan/2017 a ago/2018 · dados externos: inflação (IPCA) e população por estado (IBGE)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4B4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ATO 1 · O NEGÓCIO CRESCE?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receita mais que dobrou em um ano, mas parou em 2018</a:t>
            </a:r>
            <a:endParaRPr lang="en-US" sz="2800" dirty="0"/>
          </a:p>
        </p:txBody>
      </p:sp>
      <p:sp>
        <p:nvSpPr>
          <p:cNvPr id="4" name="gmv_card"/>
          <p:cNvSpPr/>
          <p:nvPr/>
        </p:nvSpPr>
        <p:spPr>
          <a:xfrm>
            <a:off x="548640" y="1691640"/>
            <a:ext cx="749808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graphicFrame>
        <p:nvGraphicFramePr>
          <p:cNvPr id="5" name="gmv_grafico" descr=""/>
          <p:cNvGraphicFramePr/>
          <p:nvPr/>
        </p:nvGraphicFramePr>
        <p:xfrm>
          <a:off x="731520" y="1828800"/>
          <a:ext cx="71323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t_133"/>
          <p:cNvSpPr/>
          <p:nvPr/>
        </p:nvSpPr>
        <p:spPr>
          <a:xfrm>
            <a:off x="8321040" y="1691640"/>
            <a:ext cx="32918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7" name="st_133_num"/>
          <p:cNvSpPr txBox="1"/>
          <p:nvPr/>
        </p:nvSpPr>
        <p:spPr>
          <a:xfrm>
            <a:off x="8595360" y="1892808"/>
            <a:ext cx="27432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+133%</a:t>
            </a:r>
            <a:endParaRPr lang="en-US" sz="3600" dirty="0"/>
          </a:p>
        </p:txBody>
      </p:sp>
      <p:sp>
        <p:nvSpPr>
          <p:cNvPr id="8" name="st_133_txt"/>
          <p:cNvSpPr txBox="1"/>
          <p:nvPr/>
        </p:nvSpPr>
        <p:spPr>
          <a:xfrm>
            <a:off x="8595360" y="2555748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real de jan–ago/2018 contra jan–ago/2017</a:t>
            </a:r>
            <a:endParaRPr lang="en-US" sz="1400" dirty="0"/>
          </a:p>
        </p:txBody>
      </p:sp>
      <p:sp>
        <p:nvSpPr>
          <p:cNvPr id="9" name="st_11"/>
          <p:cNvSpPr/>
          <p:nvPr/>
        </p:nvSpPr>
        <p:spPr>
          <a:xfrm>
            <a:off x="8321040" y="3218688"/>
            <a:ext cx="32918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0" name="st_11_num"/>
          <p:cNvSpPr txBox="1"/>
          <p:nvPr/>
        </p:nvSpPr>
        <p:spPr>
          <a:xfrm>
            <a:off x="8595360" y="3419856"/>
            <a:ext cx="27432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R$ 1,1 mi</a:t>
            </a:r>
            <a:endParaRPr lang="en-US" sz="3600" dirty="0"/>
          </a:p>
        </p:txBody>
      </p:sp>
      <p:sp>
        <p:nvSpPr>
          <p:cNvPr id="11" name="st_11_txt"/>
          <p:cNvSpPr txBox="1"/>
          <p:nvPr/>
        </p:nvSpPr>
        <p:spPr>
          <a:xfrm>
            <a:off x="8595360" y="4082796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 em 2018, sem crescer</a:t>
            </a:r>
            <a:endParaRPr lang="en-US" sz="1400" dirty="0"/>
          </a:p>
        </p:txBody>
      </p:sp>
      <p:sp>
        <p:nvSpPr>
          <p:cNvPr id="12" name="st_97"/>
          <p:cNvSpPr/>
          <p:nvPr/>
        </p:nvSpPr>
        <p:spPr>
          <a:xfrm>
            <a:off x="8321040" y="4754880"/>
            <a:ext cx="32918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3" name="st_97_num"/>
          <p:cNvSpPr txBox="1"/>
          <p:nvPr/>
        </p:nvSpPr>
        <p:spPr>
          <a:xfrm>
            <a:off x="8595360" y="4956048"/>
            <a:ext cx="27432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3600" dirty="0"/>
          </a:p>
        </p:txBody>
      </p:sp>
      <p:sp>
        <p:nvSpPr>
          <p:cNvPr id="14" name="st_97_txt"/>
          <p:cNvSpPr txBox="1"/>
          <p:nvPr/>
        </p:nvSpPr>
        <p:spPr>
          <a:xfrm>
            <a:off x="8595360" y="5618988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pedidos são de clientes comprando pela 1ª vez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4B4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ATO 1 · ONDE ESTÁ O ESPAÇO PARA CRESCER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Norte e Nordeste têm 36% da população e só 15% da receita</a:t>
            </a:r>
            <a:endParaRPr lang="en-US" sz="2800" dirty="0"/>
          </a:p>
        </p:txBody>
      </p:sp>
      <p:sp>
        <p:nvSpPr>
          <p:cNvPr id="4" name="reg_card"/>
          <p:cNvSpPr/>
          <p:nvPr/>
        </p:nvSpPr>
        <p:spPr>
          <a:xfrm>
            <a:off x="548640" y="1691640"/>
            <a:ext cx="749808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graphicFrame>
        <p:nvGraphicFramePr>
          <p:cNvPr id="5" name="reg_grafico" descr=""/>
          <p:cNvGraphicFramePr/>
          <p:nvPr/>
        </p:nvGraphicFramePr>
        <p:xfrm>
          <a:off x="731520" y="1828800"/>
          <a:ext cx="71323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t_5x"/>
          <p:cNvSpPr/>
          <p:nvPr/>
        </p:nvSpPr>
        <p:spPr>
          <a:xfrm>
            <a:off x="8321040" y="1691640"/>
            <a:ext cx="3291840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7" name="st_5x_num"/>
          <p:cNvSpPr txBox="1"/>
          <p:nvPr/>
        </p:nvSpPr>
        <p:spPr>
          <a:xfrm>
            <a:off x="8595360" y="1892808"/>
            <a:ext cx="2743200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 menos</a:t>
            </a:r>
            <a:endParaRPr lang="en-US" sz="3600" dirty="0"/>
          </a:p>
        </p:txBody>
      </p:sp>
      <p:sp>
        <p:nvSpPr>
          <p:cNvPr id="8" name="st_5x_txt"/>
          <p:cNvSpPr txBox="1"/>
          <p:nvPr/>
        </p:nvSpPr>
        <p:spPr>
          <a:xfrm>
            <a:off x="8595360" y="2905506"/>
            <a:ext cx="274320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por habitante no Nordeste do que no Sudeste (16 contra 77 a cada 100 mil)</a:t>
            </a:r>
            <a:endParaRPr lang="en-US" sz="1400" dirty="0"/>
          </a:p>
        </p:txBody>
      </p:sp>
      <p:sp>
        <p:nvSpPr>
          <p:cNvPr id="9" name="st_7x"/>
          <p:cNvSpPr/>
          <p:nvPr/>
        </p:nvSpPr>
        <p:spPr>
          <a:xfrm>
            <a:off x="8321040" y="3977640"/>
            <a:ext cx="3291840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0" name="st_7x_num"/>
          <p:cNvSpPr txBox="1"/>
          <p:nvPr/>
        </p:nvSpPr>
        <p:spPr>
          <a:xfrm>
            <a:off x="8595360" y="4178808"/>
            <a:ext cx="2743200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7x menos</a:t>
            </a:r>
            <a:endParaRPr lang="en-US" sz="3600" dirty="0"/>
          </a:p>
        </p:txBody>
      </p:sp>
      <p:sp>
        <p:nvSpPr>
          <p:cNvPr id="11" name="st_7x_txt"/>
          <p:cNvSpPr txBox="1"/>
          <p:nvPr/>
        </p:nvSpPr>
        <p:spPr>
          <a:xfrm>
            <a:off x="8595360" y="5191506"/>
            <a:ext cx="274320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Norte (10 pedidos a cada 100 mil habitantes)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4B4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ATO 2 · ONDE A EXPERIÊNCIA QUEBRA?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4 dias de atraso, 2 em cada 3 clientes dão nota ruim</a:t>
            </a:r>
            <a:endParaRPr lang="en-US" sz="2800" dirty="0"/>
          </a:p>
        </p:txBody>
      </p:sp>
      <p:sp>
        <p:nvSpPr>
          <p:cNvPr id="4" name="atr_card"/>
          <p:cNvSpPr/>
          <p:nvPr/>
        </p:nvSpPr>
        <p:spPr>
          <a:xfrm>
            <a:off x="548640" y="1691640"/>
            <a:ext cx="749808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graphicFrame>
        <p:nvGraphicFramePr>
          <p:cNvPr id="5" name="atr_grafico" descr=""/>
          <p:cNvGraphicFramePr/>
          <p:nvPr/>
        </p:nvGraphicFramePr>
        <p:xfrm>
          <a:off x="731520" y="1828800"/>
          <a:ext cx="71323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t_68"/>
          <p:cNvSpPr/>
          <p:nvPr/>
        </p:nvSpPr>
        <p:spPr>
          <a:xfrm>
            <a:off x="8321040" y="1691640"/>
            <a:ext cx="32918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7" name="st_68_num"/>
          <p:cNvSpPr txBox="1"/>
          <p:nvPr/>
        </p:nvSpPr>
        <p:spPr>
          <a:xfrm>
            <a:off x="8595360" y="1892808"/>
            <a:ext cx="27432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6,8%</a:t>
            </a:r>
            <a:endParaRPr lang="en-US" sz="3600" dirty="0"/>
          </a:p>
        </p:txBody>
      </p:sp>
      <p:sp>
        <p:nvSpPr>
          <p:cNvPr id="8" name="st_68_txt"/>
          <p:cNvSpPr txBox="1"/>
          <p:nvPr/>
        </p:nvSpPr>
        <p:spPr>
          <a:xfrm>
            <a:off x="8595360" y="2555748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pedidos chegam atrasados</a:t>
            </a:r>
            <a:endParaRPr lang="en-US" sz="1400" dirty="0"/>
          </a:p>
        </p:txBody>
      </p:sp>
      <p:sp>
        <p:nvSpPr>
          <p:cNvPr id="9" name="st_962"/>
          <p:cNvSpPr/>
          <p:nvPr/>
        </p:nvSpPr>
        <p:spPr>
          <a:xfrm>
            <a:off x="8321040" y="3218688"/>
            <a:ext cx="32918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0" name="st_962_num"/>
          <p:cNvSpPr txBox="1"/>
          <p:nvPr/>
        </p:nvSpPr>
        <p:spPr>
          <a:xfrm>
            <a:off x="8595360" y="3419856"/>
            <a:ext cx="27432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→ 62%</a:t>
            </a:r>
            <a:endParaRPr lang="en-US" sz="3600" dirty="0"/>
          </a:p>
        </p:txBody>
      </p:sp>
      <p:sp>
        <p:nvSpPr>
          <p:cNvPr id="11" name="st_962_txt"/>
          <p:cNvSpPr txBox="1"/>
          <p:nvPr/>
        </p:nvSpPr>
        <p:spPr>
          <a:xfrm>
            <a:off x="8595360" y="4082796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ruins: no prazo contra atrasados</a:t>
            </a:r>
            <a:endParaRPr lang="en-US" sz="1400" dirty="0"/>
          </a:p>
        </p:txBody>
      </p:sp>
      <p:sp>
        <p:nvSpPr>
          <p:cNvPr id="12" name="st_19"/>
          <p:cNvSpPr/>
          <p:nvPr/>
        </p:nvSpPr>
        <p:spPr>
          <a:xfrm>
            <a:off x="8321040" y="4754880"/>
            <a:ext cx="32918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3" name="st_19_num"/>
          <p:cNvSpPr txBox="1"/>
          <p:nvPr/>
        </p:nvSpPr>
        <p:spPr>
          <a:xfrm>
            <a:off x="8595360" y="4956048"/>
            <a:ext cx="27432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19%</a:t>
            </a:r>
            <a:endParaRPr lang="en-US" sz="3600" dirty="0"/>
          </a:p>
        </p:txBody>
      </p:sp>
      <p:sp>
        <p:nvSpPr>
          <p:cNvPr id="14" name="st_19_txt"/>
          <p:cNvSpPr txBox="1"/>
          <p:nvPr/>
        </p:nvSpPr>
        <p:spPr>
          <a:xfrm>
            <a:off x="8595360" y="5618988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atraso nos picos (Black Friday e fev–mar/2018)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4B4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ATO 2 · ONDE A EXPERIÊNCIA QUEBRA?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com vários itens têm até 4x mais notas ruins</a:t>
            </a:r>
            <a:endParaRPr lang="en-US" sz="2800" dirty="0"/>
          </a:p>
        </p:txBody>
      </p:sp>
      <p:sp>
        <p:nvSpPr>
          <p:cNvPr id="4" name="st_43"/>
          <p:cNvSpPr/>
          <p:nvPr/>
        </p:nvSpPr>
        <p:spPr>
          <a:xfrm>
            <a:off x="548640" y="1691640"/>
            <a:ext cx="3291840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5" name="st_43_num"/>
          <p:cNvSpPr txBox="1"/>
          <p:nvPr/>
        </p:nvSpPr>
        <p:spPr>
          <a:xfrm>
            <a:off x="822960" y="1892808"/>
            <a:ext cx="2743200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3600" dirty="0"/>
          </a:p>
        </p:txBody>
      </p:sp>
      <p:sp>
        <p:nvSpPr>
          <p:cNvPr id="6" name="st_43_txt"/>
          <p:cNvSpPr txBox="1"/>
          <p:nvPr/>
        </p:nvSpPr>
        <p:spPr>
          <a:xfrm>
            <a:off x="822960" y="2905506"/>
            <a:ext cx="274320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reclamações desses pedidos citam item faltando: o pedido chega em partes, sem aviso</a:t>
            </a:r>
            <a:endParaRPr lang="en-US" sz="1400" dirty="0"/>
          </a:p>
        </p:txBody>
      </p:sp>
      <p:sp>
        <p:nvSpPr>
          <p:cNvPr id="7" name="st_23"/>
          <p:cNvSpPr/>
          <p:nvPr/>
        </p:nvSpPr>
        <p:spPr>
          <a:xfrm>
            <a:off x="548640" y="3977640"/>
            <a:ext cx="3291840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8" name="st_23_num"/>
          <p:cNvSpPr txBox="1"/>
          <p:nvPr/>
        </p:nvSpPr>
        <p:spPr>
          <a:xfrm>
            <a:off x="822960" y="4178808"/>
            <a:ext cx="2743200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em 3</a:t>
            </a:r>
            <a:endParaRPr lang="en-US" sz="3600" dirty="0"/>
          </a:p>
        </p:txBody>
      </p:sp>
      <p:sp>
        <p:nvSpPr>
          <p:cNvPr id="9" name="st_23_txt"/>
          <p:cNvSpPr txBox="1"/>
          <p:nvPr/>
        </p:nvSpPr>
        <p:spPr>
          <a:xfrm>
            <a:off x="822960" y="5191506"/>
            <a:ext cx="274320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ruins vêm de pedidos entregues no prazo: o atraso não explica tudo</a:t>
            </a:r>
            <a:endParaRPr lang="en-US" sz="1400" dirty="0"/>
          </a:p>
        </p:txBody>
      </p:sp>
      <p:sp>
        <p:nvSpPr>
          <p:cNvPr id="10" name="it_card"/>
          <p:cNvSpPr/>
          <p:nvPr/>
        </p:nvSpPr>
        <p:spPr>
          <a:xfrm>
            <a:off x="4114800" y="1691640"/>
            <a:ext cx="749808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graphicFrame>
        <p:nvGraphicFramePr>
          <p:cNvPr id="11" name="it_grafico" descr=""/>
          <p:cNvGraphicFramePr/>
          <p:nvPr/>
        </p:nvGraphicFramePr>
        <p:xfrm>
          <a:off x="4297680" y="1828800"/>
          <a:ext cx="71323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4B4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ATO 2 · ONDE A EXPERIÊNCIA QUEBRA?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Nordeste, o cliente espera o dobro e o atraso dobra</a:t>
            </a:r>
            <a:endParaRPr lang="en-US" sz="2800" dirty="0"/>
          </a:p>
        </p:txBody>
      </p:sp>
      <p:sp>
        <p:nvSpPr>
          <p:cNvPr id="4" name="reg_rot0"/>
          <p:cNvSpPr txBox="1"/>
          <p:nvPr/>
        </p:nvSpPr>
        <p:spPr>
          <a:xfrm>
            <a:off x="548640" y="2697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de entrega (mediana)</a:t>
            </a:r>
            <a:endParaRPr lang="en-US" sz="1600" dirty="0"/>
          </a:p>
        </p:txBody>
      </p:sp>
      <p:sp>
        <p:nvSpPr>
          <p:cNvPr id="5" name="reg_rot1"/>
          <p:cNvSpPr txBox="1"/>
          <p:nvPr/>
        </p:nvSpPr>
        <p:spPr>
          <a:xfrm>
            <a:off x="54864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atrasados</a:t>
            </a:r>
            <a:endParaRPr lang="en-US" sz="1600" dirty="0"/>
          </a:p>
        </p:txBody>
      </p:sp>
      <p:sp>
        <p:nvSpPr>
          <p:cNvPr id="6" name="reg_rot2"/>
          <p:cNvSpPr txBox="1"/>
          <p:nvPr/>
        </p:nvSpPr>
        <p:spPr>
          <a:xfrm>
            <a:off x="548640" y="4800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 ÷ valor do produto</a:t>
            </a:r>
            <a:endParaRPr lang="en-US" sz="1600" dirty="0"/>
          </a:p>
        </p:txBody>
      </p:sp>
      <p:sp>
        <p:nvSpPr>
          <p:cNvPr id="7" name="regc_0"/>
          <p:cNvSpPr/>
          <p:nvPr/>
        </p:nvSpPr>
        <p:spPr>
          <a:xfrm>
            <a:off x="3657600" y="1783080"/>
            <a:ext cx="2468880" cy="42062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8" name="regc_nome0"/>
          <p:cNvSpPr txBox="1"/>
          <p:nvPr/>
        </p:nvSpPr>
        <p:spPr>
          <a:xfrm>
            <a:off x="388620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Sudeste</a:t>
            </a:r>
            <a:endParaRPr lang="en-US" sz="2000" dirty="0"/>
          </a:p>
        </p:txBody>
      </p:sp>
      <p:sp>
        <p:nvSpPr>
          <p:cNvPr id="9" name="regc_v0_0"/>
          <p:cNvSpPr txBox="1"/>
          <p:nvPr/>
        </p:nvSpPr>
        <p:spPr>
          <a:xfrm>
            <a:off x="379476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8,7 dias</a:t>
            </a:r>
            <a:endParaRPr lang="en-US" sz="2800" dirty="0"/>
          </a:p>
        </p:txBody>
      </p:sp>
      <p:sp>
        <p:nvSpPr>
          <p:cNvPr id="10" name="regc_v0_1"/>
          <p:cNvSpPr txBox="1"/>
          <p:nvPr/>
        </p:nvSpPr>
        <p:spPr>
          <a:xfrm>
            <a:off x="379476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6,1%</a:t>
            </a:r>
            <a:endParaRPr lang="en-US" sz="2800" dirty="0"/>
          </a:p>
        </p:txBody>
      </p:sp>
      <p:sp>
        <p:nvSpPr>
          <p:cNvPr id="11" name="regc_v0_2"/>
          <p:cNvSpPr txBox="1"/>
          <p:nvPr/>
        </p:nvSpPr>
        <p:spPr>
          <a:xfrm>
            <a:off x="3794760" y="4800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800" dirty="0"/>
          </a:p>
        </p:txBody>
      </p:sp>
      <p:sp>
        <p:nvSpPr>
          <p:cNvPr id="12" name="regc_1"/>
          <p:cNvSpPr/>
          <p:nvPr/>
        </p:nvSpPr>
        <p:spPr>
          <a:xfrm>
            <a:off x="6355080" y="1783080"/>
            <a:ext cx="2468880" cy="420624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3" name="regc_nome1"/>
          <p:cNvSpPr txBox="1"/>
          <p:nvPr/>
        </p:nvSpPr>
        <p:spPr>
          <a:xfrm>
            <a:off x="658368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Nordeste</a:t>
            </a:r>
            <a:endParaRPr lang="en-US" sz="2000" dirty="0"/>
          </a:p>
        </p:txBody>
      </p:sp>
      <p:sp>
        <p:nvSpPr>
          <p:cNvPr id="14" name="regc_v1_0"/>
          <p:cNvSpPr txBox="1"/>
          <p:nvPr/>
        </p:nvSpPr>
        <p:spPr>
          <a:xfrm>
            <a:off x="649224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17,3 dias</a:t>
            </a:r>
            <a:endParaRPr lang="en-US" sz="2800" dirty="0"/>
          </a:p>
        </p:txBody>
      </p:sp>
      <p:sp>
        <p:nvSpPr>
          <p:cNvPr id="15" name="regc_v1_1"/>
          <p:cNvSpPr txBox="1"/>
          <p:nvPr/>
        </p:nvSpPr>
        <p:spPr>
          <a:xfrm>
            <a:off x="649224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12,8%</a:t>
            </a:r>
            <a:endParaRPr lang="en-US" sz="2800" dirty="0"/>
          </a:p>
        </p:txBody>
      </p:sp>
      <p:sp>
        <p:nvSpPr>
          <p:cNvPr id="16" name="regc_v1_2"/>
          <p:cNvSpPr txBox="1"/>
          <p:nvPr/>
        </p:nvSpPr>
        <p:spPr>
          <a:xfrm>
            <a:off x="6492240" y="4800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2800" dirty="0"/>
          </a:p>
        </p:txBody>
      </p:sp>
      <p:sp>
        <p:nvSpPr>
          <p:cNvPr id="17" name="regc_2"/>
          <p:cNvSpPr/>
          <p:nvPr/>
        </p:nvSpPr>
        <p:spPr>
          <a:xfrm>
            <a:off x="9052560" y="1783080"/>
            <a:ext cx="2468880" cy="42062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8" name="regc_nome2"/>
          <p:cNvSpPr txBox="1"/>
          <p:nvPr/>
        </p:nvSpPr>
        <p:spPr>
          <a:xfrm>
            <a:off x="928116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Norte</a:t>
            </a:r>
            <a:endParaRPr lang="en-US" sz="2000" dirty="0"/>
          </a:p>
        </p:txBody>
      </p:sp>
      <p:sp>
        <p:nvSpPr>
          <p:cNvPr id="19" name="regc_v2_0"/>
          <p:cNvSpPr txBox="1"/>
          <p:nvPr/>
        </p:nvSpPr>
        <p:spPr>
          <a:xfrm>
            <a:off x="918972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20,2 dias</a:t>
            </a:r>
            <a:endParaRPr lang="en-US" sz="2800" dirty="0"/>
          </a:p>
        </p:txBody>
      </p:sp>
      <p:sp>
        <p:nvSpPr>
          <p:cNvPr id="20" name="regc_v2_1"/>
          <p:cNvSpPr txBox="1"/>
          <p:nvPr/>
        </p:nvSpPr>
        <p:spPr>
          <a:xfrm>
            <a:off x="918972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8,6%</a:t>
            </a:r>
            <a:endParaRPr lang="en-US" sz="2800" dirty="0"/>
          </a:p>
        </p:txBody>
      </p:sp>
      <p:sp>
        <p:nvSpPr>
          <p:cNvPr id="21" name="regc_v2_2"/>
          <p:cNvSpPr txBox="1"/>
          <p:nvPr/>
        </p:nvSpPr>
        <p:spPr>
          <a:xfrm>
            <a:off x="9189720" y="4800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800" dirty="0"/>
          </a:p>
        </p:txBody>
      </p:sp>
      <p:sp>
        <p:nvSpPr>
          <p:cNvPr id="22" name="reg_estados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Piores estados em atraso: AL (22%), MA (18%), SE (15%), PI e CE (14%)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4B4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ATO 3 · O CLIENTE VOLTA?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2 em cada 100 clientes compram de novo em seis meses</a:t>
            </a:r>
            <a:endParaRPr lang="en-US" sz="2800" dirty="0"/>
          </a:p>
        </p:txBody>
      </p:sp>
      <p:sp>
        <p:nvSpPr>
          <p:cNvPr id="4" name="waffle_card"/>
          <p:cNvSpPr/>
          <p:nvPr/>
        </p:nvSpPr>
        <p:spPr>
          <a:xfrm>
            <a:off x="548640" y="1691640"/>
            <a:ext cx="512064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5" name="waffle_0"/>
          <p:cNvSpPr/>
          <p:nvPr/>
        </p:nvSpPr>
        <p:spPr>
          <a:xfrm>
            <a:off x="1325880" y="19202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6" name="waffle_1"/>
          <p:cNvSpPr/>
          <p:nvPr/>
        </p:nvSpPr>
        <p:spPr>
          <a:xfrm>
            <a:off x="1682496" y="19202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7" name="waffle_2"/>
          <p:cNvSpPr/>
          <p:nvPr/>
        </p:nvSpPr>
        <p:spPr>
          <a:xfrm>
            <a:off x="2039112" y="19202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8" name="waffle_3"/>
          <p:cNvSpPr/>
          <p:nvPr/>
        </p:nvSpPr>
        <p:spPr>
          <a:xfrm>
            <a:off x="2395728" y="19202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9" name="waffle_4"/>
          <p:cNvSpPr/>
          <p:nvPr/>
        </p:nvSpPr>
        <p:spPr>
          <a:xfrm>
            <a:off x="2752344" y="19202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10" name="waffle_5"/>
          <p:cNvSpPr/>
          <p:nvPr/>
        </p:nvSpPr>
        <p:spPr>
          <a:xfrm>
            <a:off x="3108960" y="19202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11" name="waffle_6"/>
          <p:cNvSpPr/>
          <p:nvPr/>
        </p:nvSpPr>
        <p:spPr>
          <a:xfrm>
            <a:off x="3465576" y="19202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12" name="waffle_7"/>
          <p:cNvSpPr/>
          <p:nvPr/>
        </p:nvSpPr>
        <p:spPr>
          <a:xfrm>
            <a:off x="3822192" y="19202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13" name="waffle_8"/>
          <p:cNvSpPr/>
          <p:nvPr/>
        </p:nvSpPr>
        <p:spPr>
          <a:xfrm>
            <a:off x="4178808" y="19202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14" name="waffle_9"/>
          <p:cNvSpPr/>
          <p:nvPr/>
        </p:nvSpPr>
        <p:spPr>
          <a:xfrm>
            <a:off x="4535424" y="19202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15" name="waffle_10"/>
          <p:cNvSpPr/>
          <p:nvPr/>
        </p:nvSpPr>
        <p:spPr>
          <a:xfrm>
            <a:off x="1325880" y="22768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16" name="waffle_11"/>
          <p:cNvSpPr/>
          <p:nvPr/>
        </p:nvSpPr>
        <p:spPr>
          <a:xfrm>
            <a:off x="1682496" y="22768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17" name="waffle_12"/>
          <p:cNvSpPr/>
          <p:nvPr/>
        </p:nvSpPr>
        <p:spPr>
          <a:xfrm>
            <a:off x="2039112" y="22768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18" name="waffle_13"/>
          <p:cNvSpPr/>
          <p:nvPr/>
        </p:nvSpPr>
        <p:spPr>
          <a:xfrm>
            <a:off x="2395728" y="22768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19" name="waffle_14"/>
          <p:cNvSpPr/>
          <p:nvPr/>
        </p:nvSpPr>
        <p:spPr>
          <a:xfrm>
            <a:off x="2752344" y="22768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20" name="waffle_15"/>
          <p:cNvSpPr/>
          <p:nvPr/>
        </p:nvSpPr>
        <p:spPr>
          <a:xfrm>
            <a:off x="3108960" y="22768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21" name="waffle_16"/>
          <p:cNvSpPr/>
          <p:nvPr/>
        </p:nvSpPr>
        <p:spPr>
          <a:xfrm>
            <a:off x="3465576" y="22768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22" name="waffle_17"/>
          <p:cNvSpPr/>
          <p:nvPr/>
        </p:nvSpPr>
        <p:spPr>
          <a:xfrm>
            <a:off x="3822192" y="22768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23" name="waffle_18"/>
          <p:cNvSpPr/>
          <p:nvPr/>
        </p:nvSpPr>
        <p:spPr>
          <a:xfrm>
            <a:off x="4178808" y="22768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24" name="waffle_19"/>
          <p:cNvSpPr/>
          <p:nvPr/>
        </p:nvSpPr>
        <p:spPr>
          <a:xfrm>
            <a:off x="4535424" y="22768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25" name="waffle_20"/>
          <p:cNvSpPr/>
          <p:nvPr/>
        </p:nvSpPr>
        <p:spPr>
          <a:xfrm>
            <a:off x="1325880" y="26334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26" name="waffle_21"/>
          <p:cNvSpPr/>
          <p:nvPr/>
        </p:nvSpPr>
        <p:spPr>
          <a:xfrm>
            <a:off x="1682496" y="26334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27" name="waffle_22"/>
          <p:cNvSpPr/>
          <p:nvPr/>
        </p:nvSpPr>
        <p:spPr>
          <a:xfrm>
            <a:off x="2039112" y="26334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28" name="waffle_23"/>
          <p:cNvSpPr/>
          <p:nvPr/>
        </p:nvSpPr>
        <p:spPr>
          <a:xfrm>
            <a:off x="2395728" y="26334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29" name="waffle_24"/>
          <p:cNvSpPr/>
          <p:nvPr/>
        </p:nvSpPr>
        <p:spPr>
          <a:xfrm>
            <a:off x="2752344" y="26334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30" name="waffle_25"/>
          <p:cNvSpPr/>
          <p:nvPr/>
        </p:nvSpPr>
        <p:spPr>
          <a:xfrm>
            <a:off x="3108960" y="26334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31" name="waffle_26"/>
          <p:cNvSpPr/>
          <p:nvPr/>
        </p:nvSpPr>
        <p:spPr>
          <a:xfrm>
            <a:off x="3465576" y="26334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32" name="waffle_27"/>
          <p:cNvSpPr/>
          <p:nvPr/>
        </p:nvSpPr>
        <p:spPr>
          <a:xfrm>
            <a:off x="3822192" y="26334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33" name="waffle_28"/>
          <p:cNvSpPr/>
          <p:nvPr/>
        </p:nvSpPr>
        <p:spPr>
          <a:xfrm>
            <a:off x="4178808" y="26334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34" name="waffle_29"/>
          <p:cNvSpPr/>
          <p:nvPr/>
        </p:nvSpPr>
        <p:spPr>
          <a:xfrm>
            <a:off x="4535424" y="26334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35" name="waffle_30"/>
          <p:cNvSpPr/>
          <p:nvPr/>
        </p:nvSpPr>
        <p:spPr>
          <a:xfrm>
            <a:off x="1325880" y="29900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36" name="waffle_31"/>
          <p:cNvSpPr/>
          <p:nvPr/>
        </p:nvSpPr>
        <p:spPr>
          <a:xfrm>
            <a:off x="1682496" y="29900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37" name="waffle_32"/>
          <p:cNvSpPr/>
          <p:nvPr/>
        </p:nvSpPr>
        <p:spPr>
          <a:xfrm>
            <a:off x="2039112" y="29900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38" name="waffle_33"/>
          <p:cNvSpPr/>
          <p:nvPr/>
        </p:nvSpPr>
        <p:spPr>
          <a:xfrm>
            <a:off x="2395728" y="29900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39" name="waffle_34"/>
          <p:cNvSpPr/>
          <p:nvPr/>
        </p:nvSpPr>
        <p:spPr>
          <a:xfrm>
            <a:off x="2752344" y="29900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40" name="waffle_35"/>
          <p:cNvSpPr/>
          <p:nvPr/>
        </p:nvSpPr>
        <p:spPr>
          <a:xfrm>
            <a:off x="3108960" y="29900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41" name="waffle_36"/>
          <p:cNvSpPr/>
          <p:nvPr/>
        </p:nvSpPr>
        <p:spPr>
          <a:xfrm>
            <a:off x="3465576" y="29900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42" name="waffle_37"/>
          <p:cNvSpPr/>
          <p:nvPr/>
        </p:nvSpPr>
        <p:spPr>
          <a:xfrm>
            <a:off x="3822192" y="29900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43" name="waffle_38"/>
          <p:cNvSpPr/>
          <p:nvPr/>
        </p:nvSpPr>
        <p:spPr>
          <a:xfrm>
            <a:off x="4178808" y="29900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44" name="waffle_39"/>
          <p:cNvSpPr/>
          <p:nvPr/>
        </p:nvSpPr>
        <p:spPr>
          <a:xfrm>
            <a:off x="4535424" y="29900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45" name="waffle_40"/>
          <p:cNvSpPr/>
          <p:nvPr/>
        </p:nvSpPr>
        <p:spPr>
          <a:xfrm>
            <a:off x="1325880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46" name="waffle_41"/>
          <p:cNvSpPr/>
          <p:nvPr/>
        </p:nvSpPr>
        <p:spPr>
          <a:xfrm>
            <a:off x="1682496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47" name="waffle_42"/>
          <p:cNvSpPr/>
          <p:nvPr/>
        </p:nvSpPr>
        <p:spPr>
          <a:xfrm>
            <a:off x="2039112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48" name="waffle_43"/>
          <p:cNvSpPr/>
          <p:nvPr/>
        </p:nvSpPr>
        <p:spPr>
          <a:xfrm>
            <a:off x="2395728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49" name="waffle_44"/>
          <p:cNvSpPr/>
          <p:nvPr/>
        </p:nvSpPr>
        <p:spPr>
          <a:xfrm>
            <a:off x="2752344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50" name="waffle_45"/>
          <p:cNvSpPr/>
          <p:nvPr/>
        </p:nvSpPr>
        <p:spPr>
          <a:xfrm>
            <a:off x="3108960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51" name="waffle_46"/>
          <p:cNvSpPr/>
          <p:nvPr/>
        </p:nvSpPr>
        <p:spPr>
          <a:xfrm>
            <a:off x="3465576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52" name="waffle_47"/>
          <p:cNvSpPr/>
          <p:nvPr/>
        </p:nvSpPr>
        <p:spPr>
          <a:xfrm>
            <a:off x="3822192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53" name="waffle_48"/>
          <p:cNvSpPr/>
          <p:nvPr/>
        </p:nvSpPr>
        <p:spPr>
          <a:xfrm>
            <a:off x="4178808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54" name="waffle_49"/>
          <p:cNvSpPr/>
          <p:nvPr/>
        </p:nvSpPr>
        <p:spPr>
          <a:xfrm>
            <a:off x="4535424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55" name="waffle_50"/>
          <p:cNvSpPr/>
          <p:nvPr/>
        </p:nvSpPr>
        <p:spPr>
          <a:xfrm>
            <a:off x="1325880" y="37033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56" name="waffle_51"/>
          <p:cNvSpPr/>
          <p:nvPr/>
        </p:nvSpPr>
        <p:spPr>
          <a:xfrm>
            <a:off x="1682496" y="37033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57" name="waffle_52"/>
          <p:cNvSpPr/>
          <p:nvPr/>
        </p:nvSpPr>
        <p:spPr>
          <a:xfrm>
            <a:off x="2039112" y="37033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58" name="waffle_53"/>
          <p:cNvSpPr/>
          <p:nvPr/>
        </p:nvSpPr>
        <p:spPr>
          <a:xfrm>
            <a:off x="2395728" y="37033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59" name="waffle_54"/>
          <p:cNvSpPr/>
          <p:nvPr/>
        </p:nvSpPr>
        <p:spPr>
          <a:xfrm>
            <a:off x="2752344" y="37033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60" name="waffle_55"/>
          <p:cNvSpPr/>
          <p:nvPr/>
        </p:nvSpPr>
        <p:spPr>
          <a:xfrm>
            <a:off x="3108960" y="37033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61" name="waffle_56"/>
          <p:cNvSpPr/>
          <p:nvPr/>
        </p:nvSpPr>
        <p:spPr>
          <a:xfrm>
            <a:off x="3465576" y="37033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62" name="waffle_57"/>
          <p:cNvSpPr/>
          <p:nvPr/>
        </p:nvSpPr>
        <p:spPr>
          <a:xfrm>
            <a:off x="3822192" y="37033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63" name="waffle_58"/>
          <p:cNvSpPr/>
          <p:nvPr/>
        </p:nvSpPr>
        <p:spPr>
          <a:xfrm>
            <a:off x="4178808" y="37033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64" name="waffle_59"/>
          <p:cNvSpPr/>
          <p:nvPr/>
        </p:nvSpPr>
        <p:spPr>
          <a:xfrm>
            <a:off x="4535424" y="37033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65" name="waffle_60"/>
          <p:cNvSpPr/>
          <p:nvPr/>
        </p:nvSpPr>
        <p:spPr>
          <a:xfrm>
            <a:off x="1325880" y="40599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66" name="waffle_61"/>
          <p:cNvSpPr/>
          <p:nvPr/>
        </p:nvSpPr>
        <p:spPr>
          <a:xfrm>
            <a:off x="1682496" y="40599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67" name="waffle_62"/>
          <p:cNvSpPr/>
          <p:nvPr/>
        </p:nvSpPr>
        <p:spPr>
          <a:xfrm>
            <a:off x="2039112" y="40599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68" name="waffle_63"/>
          <p:cNvSpPr/>
          <p:nvPr/>
        </p:nvSpPr>
        <p:spPr>
          <a:xfrm>
            <a:off x="2395728" y="40599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69" name="waffle_64"/>
          <p:cNvSpPr/>
          <p:nvPr/>
        </p:nvSpPr>
        <p:spPr>
          <a:xfrm>
            <a:off x="2752344" y="40599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70" name="waffle_65"/>
          <p:cNvSpPr/>
          <p:nvPr/>
        </p:nvSpPr>
        <p:spPr>
          <a:xfrm>
            <a:off x="3108960" y="40599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71" name="waffle_66"/>
          <p:cNvSpPr/>
          <p:nvPr/>
        </p:nvSpPr>
        <p:spPr>
          <a:xfrm>
            <a:off x="3465576" y="40599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72" name="waffle_67"/>
          <p:cNvSpPr/>
          <p:nvPr/>
        </p:nvSpPr>
        <p:spPr>
          <a:xfrm>
            <a:off x="3822192" y="40599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73" name="waffle_68"/>
          <p:cNvSpPr/>
          <p:nvPr/>
        </p:nvSpPr>
        <p:spPr>
          <a:xfrm>
            <a:off x="4178808" y="40599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74" name="waffle_69"/>
          <p:cNvSpPr/>
          <p:nvPr/>
        </p:nvSpPr>
        <p:spPr>
          <a:xfrm>
            <a:off x="4535424" y="40599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75" name="waffle_70"/>
          <p:cNvSpPr/>
          <p:nvPr/>
        </p:nvSpPr>
        <p:spPr>
          <a:xfrm>
            <a:off x="1325880" y="441655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76" name="waffle_71"/>
          <p:cNvSpPr/>
          <p:nvPr/>
        </p:nvSpPr>
        <p:spPr>
          <a:xfrm>
            <a:off x="1682496" y="441655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77" name="waffle_72"/>
          <p:cNvSpPr/>
          <p:nvPr/>
        </p:nvSpPr>
        <p:spPr>
          <a:xfrm>
            <a:off x="2039112" y="441655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78" name="waffle_73"/>
          <p:cNvSpPr/>
          <p:nvPr/>
        </p:nvSpPr>
        <p:spPr>
          <a:xfrm>
            <a:off x="2395728" y="441655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79" name="waffle_74"/>
          <p:cNvSpPr/>
          <p:nvPr/>
        </p:nvSpPr>
        <p:spPr>
          <a:xfrm>
            <a:off x="2752344" y="441655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80" name="waffle_75"/>
          <p:cNvSpPr/>
          <p:nvPr/>
        </p:nvSpPr>
        <p:spPr>
          <a:xfrm>
            <a:off x="3108960" y="441655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81" name="waffle_76"/>
          <p:cNvSpPr/>
          <p:nvPr/>
        </p:nvSpPr>
        <p:spPr>
          <a:xfrm>
            <a:off x="3465576" y="441655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82" name="waffle_77"/>
          <p:cNvSpPr/>
          <p:nvPr/>
        </p:nvSpPr>
        <p:spPr>
          <a:xfrm>
            <a:off x="3822192" y="441655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83" name="waffle_78"/>
          <p:cNvSpPr/>
          <p:nvPr/>
        </p:nvSpPr>
        <p:spPr>
          <a:xfrm>
            <a:off x="4178808" y="441655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84" name="waffle_79"/>
          <p:cNvSpPr/>
          <p:nvPr/>
        </p:nvSpPr>
        <p:spPr>
          <a:xfrm>
            <a:off x="4535424" y="441655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85" name="waffle_80"/>
          <p:cNvSpPr/>
          <p:nvPr/>
        </p:nvSpPr>
        <p:spPr>
          <a:xfrm>
            <a:off x="1325880" y="477316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86" name="waffle_81"/>
          <p:cNvSpPr/>
          <p:nvPr/>
        </p:nvSpPr>
        <p:spPr>
          <a:xfrm>
            <a:off x="1682496" y="477316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87" name="waffle_82"/>
          <p:cNvSpPr/>
          <p:nvPr/>
        </p:nvSpPr>
        <p:spPr>
          <a:xfrm>
            <a:off x="2039112" y="477316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88" name="waffle_83"/>
          <p:cNvSpPr/>
          <p:nvPr/>
        </p:nvSpPr>
        <p:spPr>
          <a:xfrm>
            <a:off x="2395728" y="477316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89" name="waffle_84"/>
          <p:cNvSpPr/>
          <p:nvPr/>
        </p:nvSpPr>
        <p:spPr>
          <a:xfrm>
            <a:off x="2752344" y="477316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90" name="waffle_85"/>
          <p:cNvSpPr/>
          <p:nvPr/>
        </p:nvSpPr>
        <p:spPr>
          <a:xfrm>
            <a:off x="3108960" y="477316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91" name="waffle_86"/>
          <p:cNvSpPr/>
          <p:nvPr/>
        </p:nvSpPr>
        <p:spPr>
          <a:xfrm>
            <a:off x="3465576" y="477316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92" name="waffle_87"/>
          <p:cNvSpPr/>
          <p:nvPr/>
        </p:nvSpPr>
        <p:spPr>
          <a:xfrm>
            <a:off x="3822192" y="477316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93" name="waffle_88"/>
          <p:cNvSpPr/>
          <p:nvPr/>
        </p:nvSpPr>
        <p:spPr>
          <a:xfrm>
            <a:off x="4178808" y="477316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94" name="waffle_89"/>
          <p:cNvSpPr/>
          <p:nvPr/>
        </p:nvSpPr>
        <p:spPr>
          <a:xfrm>
            <a:off x="4535424" y="477316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95" name="waffle_90"/>
          <p:cNvSpPr/>
          <p:nvPr/>
        </p:nvSpPr>
        <p:spPr>
          <a:xfrm>
            <a:off x="1325880" y="512978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96" name="waffle_91"/>
          <p:cNvSpPr/>
          <p:nvPr/>
        </p:nvSpPr>
        <p:spPr>
          <a:xfrm>
            <a:off x="1682496" y="512978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97" name="waffle_92"/>
          <p:cNvSpPr/>
          <p:nvPr/>
        </p:nvSpPr>
        <p:spPr>
          <a:xfrm>
            <a:off x="2039112" y="512978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98" name="waffle_93"/>
          <p:cNvSpPr/>
          <p:nvPr/>
        </p:nvSpPr>
        <p:spPr>
          <a:xfrm>
            <a:off x="2395728" y="512978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99" name="waffle_94"/>
          <p:cNvSpPr/>
          <p:nvPr/>
        </p:nvSpPr>
        <p:spPr>
          <a:xfrm>
            <a:off x="2752344" y="512978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100" name="waffle_95"/>
          <p:cNvSpPr/>
          <p:nvPr/>
        </p:nvSpPr>
        <p:spPr>
          <a:xfrm>
            <a:off x="3108960" y="512978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101" name="waffle_96"/>
          <p:cNvSpPr/>
          <p:nvPr/>
        </p:nvSpPr>
        <p:spPr>
          <a:xfrm>
            <a:off x="3465576" y="512978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102" name="waffle_97"/>
          <p:cNvSpPr/>
          <p:nvPr/>
        </p:nvSpPr>
        <p:spPr>
          <a:xfrm>
            <a:off x="3822192" y="512978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103" name="waffle_98"/>
          <p:cNvSpPr/>
          <p:nvPr/>
        </p:nvSpPr>
        <p:spPr>
          <a:xfrm>
            <a:off x="4178808" y="512978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  <p:txBody>
          <a:bodyPr/>
          <a:p/>
        </p:txBody>
      </p:sp>
      <p:sp>
        <p:nvSpPr>
          <p:cNvPr id="104" name="waffle_99"/>
          <p:cNvSpPr/>
          <p:nvPr/>
        </p:nvSpPr>
        <p:spPr>
          <a:xfrm>
            <a:off x="4535424" y="512978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  <p:txBody>
          <a:bodyPr/>
          <a:p/>
        </p:txBody>
      </p:sp>
      <p:sp>
        <p:nvSpPr>
          <p:cNvPr id="105" name="waffle_leg"/>
          <p:cNvSpPr txBox="1"/>
          <p:nvPr/>
        </p:nvSpPr>
        <p:spPr>
          <a:xfrm>
            <a:off x="1325880" y="5623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voltam em até 180 dias (1,9%)</a:t>
            </a:r>
            <a:endParaRPr lang="en-US" sz="1300" dirty="0"/>
          </a:p>
        </p:txBody>
      </p:sp>
      <p:sp>
        <p:nvSpPr>
          <p:cNvPr id="106" name="st_308"/>
          <p:cNvSpPr/>
          <p:nvPr/>
        </p:nvSpPr>
        <p:spPr>
          <a:xfrm>
            <a:off x="5943600" y="1691640"/>
            <a:ext cx="56692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07" name="st_308_num"/>
          <p:cNvSpPr txBox="1"/>
          <p:nvPr/>
        </p:nvSpPr>
        <p:spPr>
          <a:xfrm>
            <a:off x="6217920" y="1892808"/>
            <a:ext cx="51206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R$ 308 × R$ 161</a:t>
            </a:r>
            <a:endParaRPr lang="en-US" sz="3600" dirty="0"/>
          </a:p>
        </p:txBody>
      </p:sp>
      <p:sp>
        <p:nvSpPr>
          <p:cNvPr id="108" name="st_308_txt"/>
          <p:cNvSpPr txBox="1"/>
          <p:nvPr/>
        </p:nvSpPr>
        <p:spPr>
          <a:xfrm>
            <a:off x="6217920" y="2555748"/>
            <a:ext cx="5120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volta gasta o dobro de quem compra uma vez só</a:t>
            </a:r>
            <a:endParaRPr lang="en-US" sz="1400" dirty="0"/>
          </a:p>
        </p:txBody>
      </p:sp>
      <p:sp>
        <p:nvSpPr>
          <p:cNvPr id="109" name="st_21"/>
          <p:cNvSpPr/>
          <p:nvPr/>
        </p:nvSpPr>
        <p:spPr>
          <a:xfrm>
            <a:off x="5943600" y="3218688"/>
            <a:ext cx="56692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10" name="st_21_num"/>
          <p:cNvSpPr txBox="1"/>
          <p:nvPr/>
        </p:nvSpPr>
        <p:spPr>
          <a:xfrm>
            <a:off x="6217920" y="3419856"/>
            <a:ext cx="51206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2,1%</a:t>
            </a:r>
            <a:endParaRPr lang="en-US" sz="3600" dirty="0"/>
          </a:p>
        </p:txBody>
      </p:sp>
      <p:sp>
        <p:nvSpPr>
          <p:cNvPr id="111" name="st_21_txt"/>
          <p:cNvSpPr txBox="1"/>
          <p:nvPr/>
        </p:nvSpPr>
        <p:spPr>
          <a:xfrm>
            <a:off x="6217920" y="4082796"/>
            <a:ext cx="5120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volta de quem deu nota 5: até o cliente satisfeito quase não volta</a:t>
            </a:r>
            <a:endParaRPr lang="en-US" sz="1400" dirty="0"/>
          </a:p>
        </p:txBody>
      </p:sp>
      <p:sp>
        <p:nvSpPr>
          <p:cNvPr id="112" name="st_m21"/>
          <p:cNvSpPr/>
          <p:nvPr/>
        </p:nvSpPr>
        <p:spPr>
          <a:xfrm>
            <a:off x="5943600" y="4754880"/>
            <a:ext cx="56692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13" name="st_m21_num"/>
          <p:cNvSpPr txBox="1"/>
          <p:nvPr/>
        </p:nvSpPr>
        <p:spPr>
          <a:xfrm>
            <a:off x="6217920" y="4956048"/>
            <a:ext cx="51206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−21%</a:t>
            </a:r>
            <a:endParaRPr lang="en-US" sz="3600" dirty="0"/>
          </a:p>
        </p:txBody>
      </p:sp>
      <p:sp>
        <p:nvSpPr>
          <p:cNvPr id="114" name="st_m21_txt"/>
          <p:cNvSpPr txBox="1"/>
          <p:nvPr/>
        </p:nvSpPr>
        <p:spPr>
          <a:xfrm>
            <a:off x="6217920" y="5618988"/>
            <a:ext cx="5120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volta para quem teve experiência ruim: piora, mas não explica tudo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4B4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ATO 4 · O QUE FAZER, E QUANTO VALE?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nada mudar, 2019 começa parado em R$ 1 milhão por mês</a:t>
            </a:r>
            <a:endParaRPr lang="en-US" sz="2800" dirty="0"/>
          </a:p>
        </p:txBody>
      </p:sp>
      <p:sp>
        <p:nvSpPr>
          <p:cNvPr id="4" name="proj_card"/>
          <p:cNvSpPr/>
          <p:nvPr/>
        </p:nvSpPr>
        <p:spPr>
          <a:xfrm>
            <a:off x="548640" y="1691640"/>
            <a:ext cx="749808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graphicFrame>
        <p:nvGraphicFramePr>
          <p:cNvPr id="5" name="proj_grafico" descr=""/>
          <p:cNvGraphicFramePr/>
          <p:nvPr/>
        </p:nvGraphicFramePr>
        <p:xfrm>
          <a:off x="731520" y="1828800"/>
          <a:ext cx="71323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t_135"/>
          <p:cNvSpPr/>
          <p:nvPr/>
        </p:nvSpPr>
        <p:spPr>
          <a:xfrm>
            <a:off x="8321040" y="1691640"/>
            <a:ext cx="3291840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7" name="st_135_num"/>
          <p:cNvSpPr txBox="1"/>
          <p:nvPr/>
        </p:nvSpPr>
        <p:spPr>
          <a:xfrm>
            <a:off x="8595360" y="1892808"/>
            <a:ext cx="2743200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R$ 13,5 mi</a:t>
            </a:r>
            <a:endParaRPr lang="en-US" sz="3600" dirty="0"/>
          </a:p>
        </p:txBody>
      </p:sp>
      <p:sp>
        <p:nvSpPr>
          <p:cNvPr id="8" name="st_135_txt"/>
          <p:cNvSpPr txBox="1"/>
          <p:nvPr/>
        </p:nvSpPr>
        <p:spPr>
          <a:xfrm>
            <a:off x="8595360" y="2905506"/>
            <a:ext cx="274320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real projetada para 2018: +83% sobre 2017, mas é herança do ano anterior</a:t>
            </a:r>
            <a:endParaRPr lang="en-US" sz="1400" dirty="0"/>
          </a:p>
        </p:txBody>
      </p:sp>
      <p:sp>
        <p:nvSpPr>
          <p:cNvPr id="9" name="st_1mi"/>
          <p:cNvSpPr/>
          <p:nvPr/>
        </p:nvSpPr>
        <p:spPr>
          <a:xfrm>
            <a:off x="8321040" y="3977640"/>
            <a:ext cx="3291840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0" name="st_1mi_num"/>
          <p:cNvSpPr txBox="1"/>
          <p:nvPr/>
        </p:nvSpPr>
        <p:spPr>
          <a:xfrm>
            <a:off x="8595360" y="4178808"/>
            <a:ext cx="2743200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R$ 1 mi</a:t>
            </a:r>
            <a:endParaRPr lang="en-US" sz="3600" dirty="0"/>
          </a:p>
        </p:txBody>
      </p:sp>
      <p:sp>
        <p:nvSpPr>
          <p:cNvPr id="11" name="st_1mi_txt"/>
          <p:cNvSpPr txBox="1"/>
          <p:nvPr/>
        </p:nvSpPr>
        <p:spPr>
          <a:xfrm>
            <a:off x="8595360" y="5191506"/>
            <a:ext cx="274320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mês: o ritmo de saída de 2018, sem tendência de alta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4B4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ATO 4 · QUANTO VALE CADA 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maior alavanca de receita está no Norte e no Nordeste</a:t>
            </a:r>
            <a:endParaRPr lang="en-US" sz="2800" dirty="0"/>
          </a:p>
        </p:txBody>
      </p:sp>
      <p:sp>
        <p:nvSpPr>
          <p:cNvPr id="4" name="alav_0"/>
          <p:cNvSpPr/>
          <p:nvPr/>
        </p:nvSpPr>
        <p:spPr>
          <a:xfrm>
            <a:off x="548640" y="173736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5" name="alav_ic0_circ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6" name="alav_ic0_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71700"/>
            <a:ext cx="320040" cy="320040"/>
          </a:xfrm>
          <a:prstGeom prst="rect">
            <a:avLst/>
          </a:prstGeom>
        </p:spPr>
      </p:pic>
      <p:sp>
        <p:nvSpPr>
          <p:cNvPr id="7" name="alav_nome0"/>
          <p:cNvSpPr txBox="1"/>
          <p:nvPr/>
        </p:nvSpPr>
        <p:spPr>
          <a:xfrm>
            <a:off x="164592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 pela metade</a:t>
            </a:r>
            <a:endParaRPr lang="en-US" sz="1800" dirty="0"/>
          </a:p>
        </p:txBody>
      </p:sp>
      <p:sp>
        <p:nvSpPr>
          <p:cNvPr id="8" name="alav_num0"/>
          <p:cNvSpPr txBox="1"/>
          <p:nvPr/>
        </p:nvSpPr>
        <p:spPr>
          <a:xfrm>
            <a:off x="822960" y="2788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−14%</a:t>
            </a:r>
            <a:endParaRPr lang="en-US" sz="3000" dirty="0"/>
          </a:p>
        </p:txBody>
      </p:sp>
      <p:sp>
        <p:nvSpPr>
          <p:cNvPr id="9" name="alav_txt0"/>
          <p:cNvSpPr txBox="1"/>
          <p:nvPr/>
        </p:nvSpPr>
        <p:spPr>
          <a:xfrm>
            <a:off x="2971800" y="2788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notas ruins (cerca de 1.700)</a:t>
            </a:r>
            <a:endParaRPr lang="en-US" sz="1400" dirty="0"/>
          </a:p>
        </p:txBody>
      </p:sp>
      <p:sp>
        <p:nvSpPr>
          <p:cNvPr id="10" name="alav_1"/>
          <p:cNvSpPr/>
          <p:nvPr/>
        </p:nvSpPr>
        <p:spPr>
          <a:xfrm>
            <a:off x="6172200" y="173736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1" name="alav_ic1_circ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2" name="alav_ic1_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2171700"/>
            <a:ext cx="320040" cy="320040"/>
          </a:xfrm>
          <a:prstGeom prst="rect">
            <a:avLst/>
          </a:prstGeom>
        </p:spPr>
      </p:pic>
      <p:sp>
        <p:nvSpPr>
          <p:cNvPr id="13" name="alav_nome1"/>
          <p:cNvSpPr txBox="1"/>
          <p:nvPr/>
        </p:nvSpPr>
        <p:spPr>
          <a:xfrm>
            <a:off x="726948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completa</a:t>
            </a:r>
            <a:endParaRPr lang="en-US" sz="1800" dirty="0"/>
          </a:p>
        </p:txBody>
      </p:sp>
      <p:sp>
        <p:nvSpPr>
          <p:cNvPr id="14" name="alav_num1"/>
          <p:cNvSpPr txBox="1"/>
          <p:nvPr/>
        </p:nvSpPr>
        <p:spPr>
          <a:xfrm>
            <a:off x="6446520" y="2788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−13%</a:t>
            </a:r>
            <a:endParaRPr lang="en-US" sz="3000" dirty="0"/>
          </a:p>
        </p:txBody>
      </p:sp>
      <p:sp>
        <p:nvSpPr>
          <p:cNvPr id="15" name="alav_txt1"/>
          <p:cNvSpPr txBox="1"/>
          <p:nvPr/>
        </p:nvSpPr>
        <p:spPr>
          <a:xfrm>
            <a:off x="8595360" y="2788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notas ruins (cerca de 1.500)</a:t>
            </a:r>
            <a:endParaRPr lang="en-US" sz="1400" dirty="0"/>
          </a:p>
        </p:txBody>
      </p:sp>
      <p:sp>
        <p:nvSpPr>
          <p:cNvPr id="16" name="alav_2"/>
          <p:cNvSpPr/>
          <p:nvPr/>
        </p:nvSpPr>
        <p:spPr>
          <a:xfrm>
            <a:off x="548640" y="384048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7" name="alav_ic2_circ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p/>
        </p:txBody>
      </p:sp>
      <p:pic>
        <p:nvPicPr>
          <p:cNvPr id="18" name="alav_ic2_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274820"/>
            <a:ext cx="320040" cy="320040"/>
          </a:xfrm>
          <a:prstGeom prst="rect">
            <a:avLst/>
          </a:prstGeom>
        </p:spPr>
      </p:pic>
      <p:sp>
        <p:nvSpPr>
          <p:cNvPr id="19" name="alav_nome2"/>
          <p:cNvSpPr txBox="1"/>
          <p:nvPr/>
        </p:nvSpPr>
        <p:spPr>
          <a:xfrm>
            <a:off x="164592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Norte e Nordeste</a:t>
            </a:r>
            <a:endParaRPr lang="en-US" sz="1800" dirty="0"/>
          </a:p>
        </p:txBody>
      </p:sp>
      <p:sp>
        <p:nvSpPr>
          <p:cNvPr id="20" name="alav_num2"/>
          <p:cNvSpPr txBox="1"/>
          <p:nvPr/>
        </p:nvSpPr>
        <p:spPr>
          <a:xfrm>
            <a:off x="822960" y="4892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+R$ 1,9 mi</a:t>
            </a:r>
            <a:endParaRPr lang="en-US" sz="3000" dirty="0"/>
          </a:p>
        </p:txBody>
      </p:sp>
      <p:sp>
        <p:nvSpPr>
          <p:cNvPr id="21" name="alav_txt2"/>
          <p:cNvSpPr txBox="1"/>
          <p:nvPr/>
        </p:nvSpPr>
        <p:spPr>
          <a:xfrm>
            <a:off x="2971800" y="4892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ano, cerca de 21% da receita</a:t>
            </a:r>
            <a:endParaRPr lang="en-US" sz="1400" dirty="0"/>
          </a:p>
        </p:txBody>
      </p:sp>
      <p:sp>
        <p:nvSpPr>
          <p:cNvPr id="22" name="alav_3"/>
          <p:cNvSpPr/>
          <p:nvPr/>
        </p:nvSpPr>
        <p:spPr>
          <a:xfrm>
            <a:off x="6172200" y="384048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3" name="alav_ic3_circ"/>
          <p:cNvSpPr/>
          <p:nvPr/>
        </p:nvSpPr>
        <p:spPr>
          <a:xfrm>
            <a:off x="6446520" y="4114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24" name="alav_ic3_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274820"/>
            <a:ext cx="320040" cy="320040"/>
          </a:xfrm>
          <a:prstGeom prst="rect">
            <a:avLst/>
          </a:prstGeom>
        </p:spPr>
      </p:pic>
      <p:sp>
        <p:nvSpPr>
          <p:cNvPr id="25" name="alav_nome3"/>
          <p:cNvSpPr txBox="1"/>
          <p:nvPr/>
        </p:nvSpPr>
        <p:spPr>
          <a:xfrm>
            <a:off x="726948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ponto de recompra</a:t>
            </a:r>
            <a:endParaRPr lang="en-US" sz="1800" dirty="0"/>
          </a:p>
        </p:txBody>
      </p:sp>
      <p:sp>
        <p:nvSpPr>
          <p:cNvPr id="26" name="alav_num3"/>
          <p:cNvSpPr txBox="1"/>
          <p:nvPr/>
        </p:nvSpPr>
        <p:spPr>
          <a:xfrm>
            <a:off x="6446520" y="4892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+R$ 0,1 mi</a:t>
            </a:r>
            <a:endParaRPr lang="en-US" sz="3000" dirty="0"/>
          </a:p>
        </p:txBody>
      </p:sp>
      <p:sp>
        <p:nvSpPr>
          <p:cNvPr id="27" name="alav_txt3"/>
          <p:cNvSpPr txBox="1"/>
          <p:nvPr/>
        </p:nvSpPr>
        <p:spPr>
          <a:xfrm>
            <a:off x="8595360" y="4892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ano: pequeno, mas sem custo de aquisição</a:t>
            </a:r>
            <a:endParaRPr lang="en-US" sz="1400" dirty="0"/>
          </a:p>
        </p:txBody>
      </p:sp>
      <p:sp>
        <p:nvSpPr>
          <p:cNvPr id="28" name="alav_rodape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pela metade + entrega completa: as notas ruins cairiam de 12,8% para 9,4% dos pedidos (cerca de um quarto a menos)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4B4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ATO 4 · AGIR ANTES DA NOTA RUIM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conta simples encontra o dobro de clientes insatisfeitos</a:t>
            </a:r>
            <a:endParaRPr lang="en-US" sz="2800" dirty="0"/>
          </a:p>
        </p:txBody>
      </p:sp>
      <p:sp>
        <p:nvSpPr>
          <p:cNvPr id="4" name="conta_card"/>
          <p:cNvSpPr/>
          <p:nvPr/>
        </p:nvSpPr>
        <p:spPr>
          <a:xfrm>
            <a:off x="548640" y="1691640"/>
            <a:ext cx="512064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5" name="conta_tit"/>
          <p:cNvSpPr txBox="1"/>
          <p:nvPr/>
        </p:nvSpPr>
        <p:spPr>
          <a:xfrm>
            <a:off x="82296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 de risco de cada pedido</a:t>
            </a:r>
            <a:endParaRPr lang="en-US" sz="1800" dirty="0"/>
          </a:p>
        </p:txBody>
      </p:sp>
      <p:sp>
        <p:nvSpPr>
          <p:cNvPr id="6" name="conta_n0"/>
          <p:cNvSpPr txBox="1"/>
          <p:nvPr/>
        </p:nvSpPr>
        <p:spPr>
          <a:xfrm>
            <a:off x="822960" y="2468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600" dirty="0"/>
          </a:p>
        </p:txBody>
      </p:sp>
      <p:sp>
        <p:nvSpPr>
          <p:cNvPr id="7" name="conta_t0"/>
          <p:cNvSpPr txBox="1"/>
          <p:nvPr/>
        </p:nvSpPr>
        <p:spPr>
          <a:xfrm>
            <a:off x="2148840" y="24688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partida: pedido no prazo, com 1 item</a:t>
            </a:r>
            <a:endParaRPr lang="en-US" sz="1400" dirty="0"/>
          </a:p>
        </p:txBody>
      </p:sp>
      <p:sp>
        <p:nvSpPr>
          <p:cNvPr id="8" name="conta_n1"/>
          <p:cNvSpPr txBox="1"/>
          <p:nvPr/>
        </p:nvSpPr>
        <p:spPr>
          <a:xfrm>
            <a:off x="822960" y="32461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+10,5</a:t>
            </a:r>
            <a:endParaRPr lang="en-US" sz="2600" dirty="0"/>
          </a:p>
        </p:txBody>
      </p:sp>
      <p:sp>
        <p:nvSpPr>
          <p:cNvPr id="9" name="conta_t1"/>
          <p:cNvSpPr txBox="1"/>
          <p:nvPr/>
        </p:nvSpPr>
        <p:spPr>
          <a:xfrm>
            <a:off x="2148840" y="3246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por dia de atraso (até 7 dias)</a:t>
            </a:r>
            <a:endParaRPr lang="en-US" sz="1400" dirty="0"/>
          </a:p>
        </p:txBody>
      </p:sp>
      <p:sp>
        <p:nvSpPr>
          <p:cNvPr id="10" name="conta_n2"/>
          <p:cNvSpPr txBox="1"/>
          <p:nvPr/>
        </p:nvSpPr>
        <p:spPr>
          <a:xfrm>
            <a:off x="822960" y="40233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+12,7</a:t>
            </a:r>
            <a:endParaRPr lang="en-US" sz="2600" dirty="0"/>
          </a:p>
        </p:txBody>
      </p:sp>
      <p:sp>
        <p:nvSpPr>
          <p:cNvPr id="11" name="conta_t2"/>
          <p:cNvSpPr txBox="1"/>
          <p:nvPr/>
        </p:nvSpPr>
        <p:spPr>
          <a:xfrm>
            <a:off x="2148840" y="40233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por item extra (no máximo 2)</a:t>
            </a:r>
            <a:endParaRPr lang="en-US" sz="1400" dirty="0"/>
          </a:p>
        </p:txBody>
      </p:sp>
      <p:sp>
        <p:nvSpPr>
          <p:cNvPr id="12" name="conta_regra"/>
          <p:cNvSpPr txBox="1"/>
          <p:nvPr/>
        </p:nvSpPr>
        <p:spPr>
          <a:xfrm>
            <a:off x="822960" y="489204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ligar para quem tem risco de 20% ou mais (13% dos pedidos). A conta foi calculada com os pedidos até mar/2018 e acertou nos meses seguintes, que ela não tinha visto.</a:t>
            </a:r>
            <a:endParaRPr lang="en-US" sz="1400" dirty="0"/>
          </a:p>
        </p:txBody>
      </p:sp>
      <p:sp>
        <p:nvSpPr>
          <p:cNvPr id="13" name="fila_card"/>
          <p:cNvSpPr/>
          <p:nvPr/>
        </p:nvSpPr>
        <p:spPr>
          <a:xfrm>
            <a:off x="5943600" y="1691640"/>
            <a:ext cx="566928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4" name="fila_tit"/>
          <p:cNvSpPr txBox="1"/>
          <p:nvPr/>
        </p:nvSpPr>
        <p:spPr>
          <a:xfrm>
            <a:off x="6217920" y="1874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insatisfeitos encontrados (abr–ago/2018)</a:t>
            </a:r>
            <a:endParaRPr lang="en-US" sz="1600" dirty="0"/>
          </a:p>
        </p:txBody>
      </p:sp>
      <p:sp>
        <p:nvSpPr>
          <p:cNvPr id="15" name="fila_rot0"/>
          <p:cNvSpPr txBox="1"/>
          <p:nvPr/>
        </p:nvSpPr>
        <p:spPr>
          <a:xfrm>
            <a:off x="6217920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 só para quem atrasou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1.390 ligações</a:t>
            </a:r>
            <a:endParaRPr lang="en-US" sz="1400" dirty="0"/>
          </a:p>
        </p:txBody>
      </p:sp>
      <p:sp>
        <p:nvSpPr>
          <p:cNvPr id="16" name="fila_barra0"/>
          <p:cNvSpPr/>
          <p:nvPr/>
        </p:nvSpPr>
        <p:spPr>
          <a:xfrm>
            <a:off x="6217920" y="306324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  <p:txBody>
          <a:bodyPr/>
          <a:p/>
        </p:txBody>
      </p:sp>
      <p:sp>
        <p:nvSpPr>
          <p:cNvPr id="17" name="fila_num0"/>
          <p:cNvSpPr txBox="1"/>
          <p:nvPr/>
        </p:nvSpPr>
        <p:spPr>
          <a:xfrm>
            <a:off x="6355080" y="3063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697</a:t>
            </a:r>
            <a:endParaRPr lang="en-US" sz="2800" dirty="0"/>
          </a:p>
        </p:txBody>
      </p:sp>
      <p:sp>
        <p:nvSpPr>
          <p:cNvPr id="18" name="fila_rot1"/>
          <p:cNvSpPr txBox="1"/>
          <p:nvPr/>
        </p:nvSpPr>
        <p:spPr>
          <a:xfrm>
            <a:off x="621792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 pela conta de risco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4.246 ligações</a:t>
            </a:r>
            <a:endParaRPr lang="en-US" sz="1400" dirty="0"/>
          </a:p>
        </p:txBody>
      </p:sp>
      <p:sp>
        <p:nvSpPr>
          <p:cNvPr id="19" name="fila_barra1"/>
          <p:cNvSpPr/>
          <p:nvPr/>
        </p:nvSpPr>
        <p:spPr>
          <a:xfrm>
            <a:off x="6217920" y="466344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  <p:txBody>
          <a:bodyPr/>
          <a:p/>
        </p:txBody>
      </p:sp>
      <p:sp>
        <p:nvSpPr>
          <p:cNvPr id="20" name="fila_num1"/>
          <p:cNvSpPr txBox="1"/>
          <p:nvPr/>
        </p:nvSpPr>
        <p:spPr>
          <a:xfrm>
            <a:off x="6355080" y="46634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1.394</a:t>
            </a:r>
            <a:endParaRPr lang="en-US" sz="2800" dirty="0"/>
          </a:p>
        </p:txBody>
      </p:sp>
      <p:sp>
        <p:nvSpPr>
          <p:cNvPr id="21" name="fila_rodape"/>
          <p:cNvSpPr txBox="1"/>
          <p:nvPr/>
        </p:nvSpPr>
        <p:spPr>
          <a:xfrm>
            <a:off x="6217920" y="5577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dobro de clientes encontrados, antes de eles avaliarem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4B4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ATO 4 · PROVAR ANTES DE ESCALAR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piloto mostra se a retenção funciona antes do investimento</a:t>
            </a:r>
            <a:endParaRPr lang="en-US" sz="2800" dirty="0"/>
          </a:p>
        </p:txBody>
      </p:sp>
      <p:sp>
        <p:nvSpPr>
          <p:cNvPr id="4" name="pil_0"/>
          <p:cNvSpPr/>
          <p:nvPr/>
        </p:nvSpPr>
        <p:spPr>
          <a:xfrm>
            <a:off x="548640" y="1783080"/>
            <a:ext cx="2587752" cy="3063240"/>
          </a:xfrm>
          <a:prstGeom prst="roundRect">
            <a:avLst>
              <a:gd name="adj" fmla="val 42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5" name="pil_ic0_circ"/>
          <p:cNvSpPr/>
          <p:nvPr/>
        </p:nvSpPr>
        <p:spPr>
          <a:xfrm>
            <a:off x="822960" y="20574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6" name="pil_ic0_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40280"/>
            <a:ext cx="365760" cy="365760"/>
          </a:xfrm>
          <a:prstGeom prst="rect">
            <a:avLst/>
          </a:prstGeom>
        </p:spPr>
      </p:pic>
      <p:sp>
        <p:nvSpPr>
          <p:cNvPr id="7" name="pil_nome0"/>
          <p:cNvSpPr txBox="1"/>
          <p:nvPr/>
        </p:nvSpPr>
        <p:spPr>
          <a:xfrm>
            <a:off x="82296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Sortear</a:t>
            </a:r>
            <a:endParaRPr lang="en-US" sz="1800" dirty="0"/>
          </a:p>
        </p:txBody>
      </p:sp>
      <p:sp>
        <p:nvSpPr>
          <p:cNvPr id="8" name="pil_txt0"/>
          <p:cNvSpPr txBox="1"/>
          <p:nvPr/>
        </p:nvSpPr>
        <p:spPr>
          <a:xfrm>
            <a:off x="822960" y="352044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novos divididos em dois grupos de cerca de 3.100, com a mesma mistura de categorias</a:t>
            </a:r>
            <a:endParaRPr lang="en-US" sz="1400" dirty="0"/>
          </a:p>
        </p:txBody>
      </p:sp>
      <p:sp>
        <p:nvSpPr>
          <p:cNvPr id="9" name="pil_seta0"/>
          <p:cNvSpPr/>
          <p:nvPr/>
        </p:nvSpPr>
        <p:spPr>
          <a:xfrm>
            <a:off x="3182112" y="3611880"/>
            <a:ext cx="137160" cy="274320"/>
          </a:xfrm>
          <a:prstGeom prst="chevron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  <p:txBody>
          <a:bodyPr/>
          <a:p/>
        </p:txBody>
      </p:sp>
      <p:sp>
        <p:nvSpPr>
          <p:cNvPr id="10" name="pil_1"/>
          <p:cNvSpPr/>
          <p:nvPr/>
        </p:nvSpPr>
        <p:spPr>
          <a:xfrm>
            <a:off x="3364992" y="1783080"/>
            <a:ext cx="2587752" cy="3063240"/>
          </a:xfrm>
          <a:prstGeom prst="roundRect">
            <a:avLst>
              <a:gd name="adj" fmla="val 42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1" name="pil_ic1_circ"/>
          <p:cNvSpPr/>
          <p:nvPr/>
        </p:nvSpPr>
        <p:spPr>
          <a:xfrm>
            <a:off x="3639312" y="20574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2" name="pil_ic1_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240280"/>
            <a:ext cx="365760" cy="365760"/>
          </a:xfrm>
          <a:prstGeom prst="rect">
            <a:avLst/>
          </a:prstGeom>
        </p:spPr>
      </p:pic>
      <p:sp>
        <p:nvSpPr>
          <p:cNvPr id="13" name="pil_nome1"/>
          <p:cNvSpPr txBox="1"/>
          <p:nvPr/>
        </p:nvSpPr>
        <p:spPr>
          <a:xfrm>
            <a:off x="3639312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Convidar</a:t>
            </a:r>
            <a:endParaRPr lang="en-US" sz="1800" dirty="0"/>
          </a:p>
        </p:txBody>
      </p:sp>
      <p:sp>
        <p:nvSpPr>
          <p:cNvPr id="14" name="pil_txt1"/>
          <p:cNvSpPr txBox="1"/>
          <p:nvPr/>
        </p:nvSpPr>
        <p:spPr>
          <a:xfrm>
            <a:off x="3639312" y="352044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de ação recebe o convite para a 2ª compra; o grupo de controle, não</a:t>
            </a:r>
            <a:endParaRPr lang="en-US" sz="1400" dirty="0"/>
          </a:p>
        </p:txBody>
      </p:sp>
      <p:sp>
        <p:nvSpPr>
          <p:cNvPr id="15" name="pil_seta1"/>
          <p:cNvSpPr/>
          <p:nvPr/>
        </p:nvSpPr>
        <p:spPr>
          <a:xfrm>
            <a:off x="5998464" y="3611880"/>
            <a:ext cx="137160" cy="274320"/>
          </a:xfrm>
          <a:prstGeom prst="chevron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  <p:txBody>
          <a:bodyPr/>
          <a:p/>
        </p:txBody>
      </p:sp>
      <p:sp>
        <p:nvSpPr>
          <p:cNvPr id="16" name="pil_2"/>
          <p:cNvSpPr/>
          <p:nvPr/>
        </p:nvSpPr>
        <p:spPr>
          <a:xfrm>
            <a:off x="6181344" y="1783080"/>
            <a:ext cx="2587752" cy="3063240"/>
          </a:xfrm>
          <a:prstGeom prst="roundRect">
            <a:avLst>
              <a:gd name="adj" fmla="val 42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7" name="pil_ic2_circ"/>
          <p:cNvSpPr/>
          <p:nvPr/>
        </p:nvSpPr>
        <p:spPr>
          <a:xfrm>
            <a:off x="6455664" y="20574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8" name="pil_ic2_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2240280"/>
            <a:ext cx="365760" cy="365760"/>
          </a:xfrm>
          <a:prstGeom prst="rect">
            <a:avLst/>
          </a:prstGeom>
        </p:spPr>
      </p:pic>
      <p:sp>
        <p:nvSpPr>
          <p:cNvPr id="19" name="pil_nome2"/>
          <p:cNvSpPr txBox="1"/>
          <p:nvPr/>
        </p:nvSpPr>
        <p:spPr>
          <a:xfrm>
            <a:off x="6455664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Esperar 180 dias</a:t>
            </a:r>
            <a:endParaRPr lang="en-US" sz="1800" dirty="0"/>
          </a:p>
        </p:txBody>
      </p:sp>
      <p:sp>
        <p:nvSpPr>
          <p:cNvPr id="20" name="pil_txt2"/>
          <p:cNvSpPr txBox="1"/>
          <p:nvPr/>
        </p:nvSpPr>
        <p:spPr>
          <a:xfrm>
            <a:off x="6455664" y="352044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os grupos leva de 1 a 5 meses; depois, seis meses de acompanhamento</a:t>
            </a:r>
            <a:endParaRPr lang="en-US" sz="1400" dirty="0"/>
          </a:p>
        </p:txBody>
      </p:sp>
      <p:sp>
        <p:nvSpPr>
          <p:cNvPr id="21" name="pil_seta2"/>
          <p:cNvSpPr/>
          <p:nvPr/>
        </p:nvSpPr>
        <p:spPr>
          <a:xfrm>
            <a:off x="8814816" y="3611880"/>
            <a:ext cx="137160" cy="274320"/>
          </a:xfrm>
          <a:prstGeom prst="chevron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  <p:txBody>
          <a:bodyPr/>
          <a:p/>
        </p:txBody>
      </p:sp>
      <p:sp>
        <p:nvSpPr>
          <p:cNvPr id="22" name="pil_3"/>
          <p:cNvSpPr/>
          <p:nvPr/>
        </p:nvSpPr>
        <p:spPr>
          <a:xfrm>
            <a:off x="8997696" y="1783080"/>
            <a:ext cx="2587752" cy="3063240"/>
          </a:xfrm>
          <a:prstGeom prst="roundRect">
            <a:avLst>
              <a:gd name="adj" fmla="val 42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3" name="pil_ic3_circ"/>
          <p:cNvSpPr/>
          <p:nvPr/>
        </p:nvSpPr>
        <p:spPr>
          <a:xfrm>
            <a:off x="9272016" y="20574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24" name="pil_ic3_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2240280"/>
            <a:ext cx="365760" cy="365760"/>
          </a:xfrm>
          <a:prstGeom prst="rect">
            <a:avLst/>
          </a:prstGeom>
        </p:spPr>
      </p:pic>
      <p:sp>
        <p:nvSpPr>
          <p:cNvPr id="25" name="pil_nome3"/>
          <p:cNvSpPr txBox="1"/>
          <p:nvPr/>
        </p:nvSpPr>
        <p:spPr>
          <a:xfrm>
            <a:off x="9272016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Comparar</a:t>
            </a:r>
            <a:endParaRPr lang="en-US" sz="1800" dirty="0"/>
          </a:p>
        </p:txBody>
      </p:sp>
      <p:sp>
        <p:nvSpPr>
          <p:cNvPr id="26" name="pil_txt3"/>
          <p:cNvSpPr txBox="1"/>
          <p:nvPr/>
        </p:nvSpPr>
        <p:spPr>
          <a:xfrm>
            <a:off x="9272016" y="352044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recompra subir de 1,9% para 3%, a campanha vai para todos</a:t>
            </a:r>
            <a:endParaRPr lang="en-US" sz="1400" dirty="0"/>
          </a:p>
        </p:txBody>
      </p:sp>
      <p:sp>
        <p:nvSpPr>
          <p:cNvPr id="27" name="pil_msg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8" name="pil_msg_circ"/>
          <p:cNvSpPr/>
          <p:nvPr/>
        </p:nvSpPr>
        <p:spPr>
          <a:xfrm>
            <a:off x="822960" y="5212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29" name="pil_msg_ic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394960"/>
            <a:ext cx="365760" cy="365760"/>
          </a:xfrm>
          <a:prstGeom prst="rect">
            <a:avLst/>
          </a:prstGeom>
        </p:spPr>
      </p:pic>
      <p:sp>
        <p:nvSpPr>
          <p:cNvPr id="30" name="pil_rodape"/>
          <p:cNvSpPr txBox="1"/>
          <p:nvPr/>
        </p:nvSpPr>
        <p:spPr>
          <a:xfrm>
            <a:off x="1828800" y="51206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baixo e reversível: se o piloto não mostrar efeito, a Olist economiza o investimento em escala.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4B4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RECOMENDAÇÕES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decisões, cada uma com meta e prazo</a:t>
            </a:r>
            <a:endParaRPr lang="en-US" sz="2800" dirty="0"/>
          </a:p>
        </p:txBody>
      </p:sp>
      <p:graphicFrame>
        <p:nvGraphicFramePr>
          <p:cNvPr id="14" name="tab_rec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486400"/>
                <a:gridCol w="5029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14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14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145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Vendedores e rotas no Nordeste (AL, MA, CE, BA, PE)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B4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de 17,3 para 12 dias em 12 meses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de postagem e ranking de vendedores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B4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Postagem atrasada de 8,9% para 4% em 6 meses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completa ou aviso de entrega parcial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B4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 ruins com 2+ itens de 24,6% para 15% em 6 meses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de capacidade para os picos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B4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máximo 7% de atraso na Black Friday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Atendimento guiado pela conta de risco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B4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 ruins de 12,8% para 11% em 6 meses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Piloto da 2ª compra antes de escalar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B4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Recompra de 1,9% para 3% em 12 meses, se aprovado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4B4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ONDE COLOCAR O DINHEIRO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logística, depois Norte e Nordeste, por fim retenção</a:t>
            </a:r>
            <a:endParaRPr lang="en-US" sz="2800" dirty="0"/>
          </a:p>
        </p:txBody>
      </p:sp>
      <p:sp>
        <p:nvSpPr>
          <p:cNvPr id="4" name="prio_0"/>
          <p:cNvSpPr/>
          <p:nvPr/>
        </p:nvSpPr>
        <p:spPr>
          <a:xfrm>
            <a:off x="54864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prio_n0"/>
          <p:cNvSpPr txBox="1"/>
          <p:nvPr/>
        </p:nvSpPr>
        <p:spPr>
          <a:xfrm>
            <a:off x="82296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1º</a:t>
            </a:r>
            <a:endParaRPr lang="en-US" sz="4000" dirty="0"/>
          </a:p>
        </p:txBody>
      </p:sp>
      <p:sp>
        <p:nvSpPr>
          <p:cNvPr id="6" name="prio_nome0"/>
          <p:cNvSpPr txBox="1"/>
          <p:nvPr/>
        </p:nvSpPr>
        <p:spPr>
          <a:xfrm>
            <a:off x="82296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Logística e experiência</a:t>
            </a:r>
            <a:endParaRPr lang="en-US" sz="2000" dirty="0"/>
          </a:p>
        </p:txBody>
      </p:sp>
      <p:sp>
        <p:nvSpPr>
          <p:cNvPr id="7" name="prio_txt0"/>
          <p:cNvSpPr txBox="1"/>
          <p:nvPr/>
        </p:nvSpPr>
        <p:spPr>
          <a:xfrm>
            <a:off x="822960" y="32461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um quarto a menos de notas ruins; protege a reputação e é pré-condição para crescer fora do Sudeste</a:t>
            </a:r>
            <a:endParaRPr lang="en-US" sz="1400" dirty="0"/>
          </a:p>
        </p:txBody>
      </p:sp>
      <p:sp>
        <p:nvSpPr>
          <p:cNvPr id="8" name="prio_1"/>
          <p:cNvSpPr/>
          <p:nvPr/>
        </p:nvSpPr>
        <p:spPr>
          <a:xfrm>
            <a:off x="429768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9" name="prio_n1"/>
          <p:cNvSpPr txBox="1"/>
          <p:nvPr/>
        </p:nvSpPr>
        <p:spPr>
          <a:xfrm>
            <a:off x="457200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2º</a:t>
            </a:r>
            <a:endParaRPr lang="en-US" sz="4000" dirty="0"/>
          </a:p>
        </p:txBody>
      </p:sp>
      <p:sp>
        <p:nvSpPr>
          <p:cNvPr id="10" name="prio_nome1"/>
          <p:cNvSpPr txBox="1"/>
          <p:nvPr/>
        </p:nvSpPr>
        <p:spPr>
          <a:xfrm>
            <a:off x="457200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Norte e Nordeste</a:t>
            </a:r>
            <a:endParaRPr lang="en-US" sz="2000" dirty="0"/>
          </a:p>
        </p:txBody>
      </p:sp>
      <p:sp>
        <p:nvSpPr>
          <p:cNvPr id="11" name="prio_txt1"/>
          <p:cNvSpPr txBox="1"/>
          <p:nvPr/>
        </p:nvSpPr>
        <p:spPr>
          <a:xfrm>
            <a:off x="4572000" y="32461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alavanca de receita: cerca de R$ 1,9 mi por ano</a:t>
            </a:r>
            <a:endParaRPr lang="en-US" sz="1400" dirty="0"/>
          </a:p>
        </p:txBody>
      </p:sp>
      <p:sp>
        <p:nvSpPr>
          <p:cNvPr id="12" name="prio_2"/>
          <p:cNvSpPr/>
          <p:nvPr/>
        </p:nvSpPr>
        <p:spPr>
          <a:xfrm>
            <a:off x="804672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3" name="prio_n2"/>
          <p:cNvSpPr txBox="1"/>
          <p:nvPr/>
        </p:nvSpPr>
        <p:spPr>
          <a:xfrm>
            <a:off x="832104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3º</a:t>
            </a:r>
            <a:endParaRPr lang="en-US" sz="4000" dirty="0"/>
          </a:p>
        </p:txBody>
      </p:sp>
      <p:sp>
        <p:nvSpPr>
          <p:cNvPr id="14" name="prio_nome2"/>
          <p:cNvSpPr txBox="1"/>
          <p:nvPr/>
        </p:nvSpPr>
        <p:spPr>
          <a:xfrm>
            <a:off x="832104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Retenção, com piloto</a:t>
            </a:r>
            <a:endParaRPr lang="en-US" sz="2000" dirty="0"/>
          </a:p>
        </p:txBody>
      </p:sp>
      <p:sp>
        <p:nvSpPr>
          <p:cNvPr id="15" name="prio_txt2"/>
          <p:cNvSpPr txBox="1"/>
          <p:nvPr/>
        </p:nvSpPr>
        <p:spPr>
          <a:xfrm>
            <a:off x="8321040" y="32461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pequeno e reversível; só escala se o teste provar o efeito</a:t>
            </a:r>
            <a:endParaRPr lang="en-US" sz="1400" dirty="0"/>
          </a:p>
        </p:txBody>
      </p:sp>
      <p:sp>
        <p:nvSpPr>
          <p:cNvPr id="16" name="msg_card"/>
          <p:cNvSpPr/>
          <p:nvPr/>
        </p:nvSpPr>
        <p:spPr>
          <a:xfrm>
            <a:off x="548640" y="493776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7" name="msg_circ"/>
          <p:cNvSpPr/>
          <p:nvPr/>
        </p:nvSpPr>
        <p:spPr>
          <a:xfrm>
            <a:off x="822960" y="5166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8" name="msg_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349240"/>
            <a:ext cx="365760" cy="365760"/>
          </a:xfrm>
          <a:prstGeom prst="rect">
            <a:avLst/>
          </a:prstGeom>
        </p:spPr>
      </p:pic>
      <p:sp>
        <p:nvSpPr>
          <p:cNvPr id="19" name="msg_txt"/>
          <p:cNvSpPr txBox="1"/>
          <p:nvPr/>
        </p:nvSpPr>
        <p:spPr>
          <a:xfrm>
            <a:off x="1828800" y="502920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Olist já sabe atrair clientes. O próximo ciclo de crescimento depende de entregar bem fora do Sudeste e de fazer o cliente voltar.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4B4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PROJETO 1 · TECH CHALLENGE · FASE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0020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148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github.com/Matheus538Benjamin/projeto-1-tech-challenge---FIAP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669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Matheus Benjamin Aquino Silva · POSTECH Data Analytics (FIAP)</a:t>
            </a:r>
            <a:endParaRPr lang="en-US" sz="1400" dirty="0"/>
          </a:p>
        </p:txBody>
      </p:sp>
      <p:sp>
        <p:nvSpPr>
          <p:cNvPr id="6" name="cod_circ"/>
          <p:cNvSpPr/>
          <p:nvPr/>
        </p:nvSpPr>
        <p:spPr>
          <a:xfrm>
            <a:off x="9418320" y="2194560"/>
            <a:ext cx="1645920" cy="1645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7" name="cod_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6060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IAP Tech Challenge">
  <a:themeElements>
    <a:clrScheme name="FIAP Tech Challenge">
      <a:dk1>
        <a:srgbClr val="1C1C1C"/>
      </a:dk1>
      <a:lt1>
        <a:srgbClr val="FFFFFF"/>
      </a:lt1>
      <a:dk2>
        <a:srgbClr val="2A2A2A"/>
      </a:dk2>
      <a:lt2>
        <a:srgbClr val="B4B4B4"/>
      </a:lt2>
      <a:accent1>
        <a:srgbClr val="ED145B"/>
      </a:accent1>
      <a:accent2>
        <a:srgbClr val="F58FB0"/>
      </a:accent2>
      <a:accent3>
        <a:srgbClr val="6E6E6E"/>
      </a:accent3>
      <a:accent4>
        <a:srgbClr val="333333"/>
      </a:accent4>
      <a:accent5>
        <a:srgbClr val="8C8C8C"/>
      </a:accent5>
      <a:accent6>
        <a:srgbClr val="D9D9D9"/>
      </a:accent6>
      <a:hlink>
        <a:srgbClr val="ED145B"/>
      </a:hlink>
      <a:folHlink>
        <a:srgbClr val="B21E4B"/>
      </a:folHlink>
    </a:clrScheme>
    <a:fontScheme name="FIAP Tech Challeng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que fazer para o GMV da Olist crescer cada vez mais?</dc:title>
  <dc:subject>Projeto 1 · Tech Challenge · Fase 1 · POSTECH Data Analytics</dc:subject>
  <dc:creator>Matheus Benjamin Aquino Silva</dc:creator>
  <cp:lastModifiedBy>Matheus Benjamin Aquino Silva</cp:lastModifiedBy>
  <cp:revision>1</cp:revision>
  <dcterms:created xsi:type="dcterms:W3CDTF">2026-10-21T22:56:40Z</dcterms:created>
  <dcterms:modified xsi:type="dcterms:W3CDTF">2026-10-21T22:56:40Z</dcterms:modified>
</cp:coreProperties>
</file>